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0284C7"/>
                </a:solidFill>
              </a:defRPr>
            </a:pPr>
            <a:r>
              <a:t>COMISIÓN DE INTEGRACIÓN ENERGÉTICA REGIONAL (CIER)</a:t>
            </a:r>
          </a:p>
          <a:p>
            <a:pPr>
              <a:spcAft>
                <a:spcPts val="800"/>
              </a:spcAft>
              <a:defRPr b="1" sz="3200">
                <a:solidFill>
                  <a:srgbClr val="0F172A"/>
                </a:solidFill>
              </a:defRPr>
            </a:pPr>
            <a:r>
              <a:t>Encuesta de Satisfacción Residencial EPEC-AR</a:t>
            </a:r>
          </a:p>
          <a:p>
            <a:pPr>
              <a:spcAft>
                <a:spcPts val="2400"/>
              </a:spcAft>
              <a:defRPr b="0" sz="2000">
                <a:solidFill>
                  <a:srgbClr val="475569"/>
                </a:solidFill>
              </a:defRPr>
            </a:pPr>
            <a:r>
              <a:t>Informe Ejecutivo y Analítico de Resultados · Período 2025 –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931920"/>
            <a:ext cx="228600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ISCAL 2026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65.96%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vs 2025: +2.27 p.p.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931920"/>
            <a:ext cx="228600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APROBACIÓN (IAC)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77.60%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vs 2025: +1.92 p.p.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31920"/>
            <a:ext cx="228600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SATISF. GENERAL (ISG)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65.60%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vs 2025: +4.48 p.p.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931920"/>
            <a:ext cx="2286000" cy="1645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402336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75569"/>
                </a:solidFill>
              </a:defRPr>
            </a:pPr>
            <a:r>
              <a:t>EXCELENCIA (IECP)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27.15%</a:t>
            </a:r>
          </a:p>
          <a:p>
            <a:pPr>
              <a:defRPr sz="1300" b="1">
                <a:solidFill>
                  <a:srgbClr val="059669"/>
                </a:solidFill>
              </a:defRPr>
            </a:pPr>
            <a:r>
              <a:t>vs 2025: +25.6% rel.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Contexto y Desarrollo Regional del Estudio CIER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0284C7"/>
                </a:solidFill>
              </a:defRPr>
            </a:pPr>
            <a:r>
              <a:t>🌎 Alcance y Participación Internacional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Estudio Regional CIER: </a:t>
            </a:r>
            <a:r>
              <a:rPr b="0">
                <a:solidFill>
                  <a:srgbClr val="475569"/>
                </a:solidFill>
              </a:rPr>
              <a:t>Investigación anual de satisfacción más prestigiosa del sector eléctrico en América Latina y el Caribe (+20 años de historia ininterrumpida).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Países Evaluados (7-8 Sistemas): </a:t>
            </a:r>
            <a:r>
              <a:rPr b="0">
                <a:solidFill>
                  <a:srgbClr val="475569"/>
                </a:solidFill>
              </a:rPr>
              <a:t>Argentina, Brasil, Colombia, Chile, Uruguay, Ecuador, Perú y Centroamérica.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Empresas Participantes: </a:t>
            </a:r>
            <a:r>
              <a:rPr b="0">
                <a:solidFill>
                  <a:srgbClr val="475569"/>
                </a:solidFill>
              </a:rPr>
              <a:t>Más de 34 distribuidoras eléctricas auditadas bajo la misma metodología estandarizada.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Población Representada: </a:t>
            </a:r>
            <a:r>
              <a:rPr b="0">
                <a:solidFill>
                  <a:srgbClr val="475569"/>
                </a:solidFill>
              </a:rPr>
              <a:t>Más de 35 millones de hogares en América Latina. En Córdoba, representa a la totalidad de los +1.100.000 clientes residenciales de EPEC.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059669"/>
                </a:solidFill>
              </a:defRPr>
            </a:pPr>
            <a:r>
              <a:t>⚡ Segmentación por Tamaño de Mercado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Grupo &gt;500k Clientes (Gran Porte): </a:t>
            </a:r>
            <a:r>
              <a:rPr b="0">
                <a:solidFill>
                  <a:srgbClr val="475569"/>
                </a:solidFill>
              </a:rPr>
              <a:t>EPEC compite en la categoría de grandes distribuidoras regionales junto a Edenor, Edesur, Enel Distribución, CPFL Paulista, Copel, Neoenergia Elektro, CEEE y UTE.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Muestra EPEC (N = 1.250): </a:t>
            </a:r>
            <a:r>
              <a:rPr b="0">
                <a:solidFill>
                  <a:srgbClr val="475569"/>
                </a:solidFill>
              </a:rPr>
              <a:t>Muestra bianual robusta: 625 encuestas en 2025 y 625 en 2026 presenciales cara a cara.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Error Estadístico Provincial: </a:t>
            </a:r>
            <a:r>
              <a:rPr b="0">
                <a:solidFill>
                  <a:srgbClr val="475569"/>
                </a:solidFill>
              </a:rPr>
              <a:t>± 3.92% anual (± 2.77% consolidado) con 95% de nivel de confianza (p=q=0.5).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Grupo ≤500k Clientes (Pymes): </a:t>
            </a:r>
            <a:r>
              <a:rPr b="0">
                <a:solidFill>
                  <a:srgbClr val="475569"/>
                </a:solidFill>
              </a:rPr>
              <a:t>Distribuidoras medianas y cooperativas con muestra base de N = 400 encuestas y error ± 4.90%.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Metodología de Campo y Protocolo de Diálogo con el Cliente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0284C7"/>
                </a:solidFill>
              </a:defRPr>
            </a:pPr>
            <a:r>
              <a:t>📋 Protocolo de Campo y Relevamiento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Modalidad Presencial (CAPI/PAPI): </a:t>
            </a:r>
            <a:r>
              <a:rPr b="0">
                <a:solidFill>
                  <a:srgbClr val="475569"/>
                </a:solidFill>
              </a:rPr>
              <a:t>Entrevistas individuales cara a cara en el domicilio del cliente residencial mediante tabletas auditadas con geolocalización GPS.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Perfil del Informante: </a:t>
            </a:r>
            <a:r>
              <a:rPr b="0">
                <a:solidFill>
                  <a:srgbClr val="475569"/>
                </a:solidFill>
              </a:rPr>
              <a:t>Titular del servicio eléctrico o cónyuge / mayor de 18 años con conocimiento y responsabilidad en el pago de facturas.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Duración de la Encuesta: </a:t>
            </a:r>
            <a:r>
              <a:rPr b="0">
                <a:solidFill>
                  <a:srgbClr val="475569"/>
                </a:solidFill>
              </a:rPr>
              <a:t>Tiempo promedio cronometrado de 18 a 22 minutos por cuestionario estructurado.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Control de Calidad y Auditoría: </a:t>
            </a:r>
            <a:r>
              <a:rPr b="0">
                <a:solidFill>
                  <a:srgbClr val="475569"/>
                </a:solidFill>
              </a:rPr>
              <a:t>Estructura especializada con 56 supervisores de campo y 39 verificadores/revisores independientes de Innovare para auditar la consistencia y calidad del 100% de los datos recolectados.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700">
                <a:solidFill>
                  <a:srgbClr val="D97706"/>
                </a:solidFill>
              </a:defRPr>
            </a:pPr>
            <a:r>
              <a:t>🗣️ Técnica de Diálogo y Neutralidad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Escala Numérica Discreta (1 a 10): </a:t>
            </a:r>
            <a:r>
              <a:rPr b="0">
                <a:solidFill>
                  <a:srgbClr val="475569"/>
                </a:solidFill>
              </a:rPr>
              <a:t>Donde 1 representa la máxima insatisfacción ('Pésimo') y 10 la máxima satisfacción ('Excelente').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Neutralidad Absoluta: </a:t>
            </a:r>
            <a:r>
              <a:rPr b="0">
                <a:solidFill>
                  <a:srgbClr val="475569"/>
                </a:solidFill>
              </a:rPr>
              <a:t>El encuestador lee textualmente cada enunciado sin inducir respuestas ni emitir juicios sobre EPEC.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Tarjeta Visual de Ayuda: </a:t>
            </a:r>
            <a:r>
              <a:rPr b="0">
                <a:solidFill>
                  <a:srgbClr val="475569"/>
                </a:solidFill>
              </a:rPr>
              <a:t>Se exhibe al encuestado una escala gráfica graduada para facilitar la asociación mental de notas.</a:t>
            </a:r>
          </a:p>
          <a:p>
            <a:pPr>
              <a:spcAft>
                <a:spcPts val="600"/>
              </a:spcAft>
              <a:defRPr b="1" sz="1300">
                <a:solidFill>
                  <a:srgbClr val="0F172A"/>
                </a:solidFill>
              </a:defRPr>
            </a:pPr>
            <a:r>
              <a:t>• Orden de Bloques Estandarizado: </a:t>
            </a:r>
            <a:r>
              <a:rPr b="0">
                <a:solidFill>
                  <a:srgbClr val="475569"/>
                </a:solidFill>
              </a:rPr>
              <a:t>Se evalúan secuencialmente Suministro, Factura, Atención, Imagen, Información, finalizando con la pregunta de Satisfacción General (ISG).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ARQUITECTURA METODOLÓGICA CIER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Estructura de Procesamiento de Índices CIER (Diagrama de Bloques)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2011680" cy="1005840"/>
          </a:xfrm>
          <a:prstGeom prst="rect">
            <a:avLst/>
          </a:prstGeom>
          <a:solidFill>
            <a:srgbClr val="1E293B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Respuestas</a:t>
            </a:r>
            <a:br/>
            <a:r>
              <a:t>Cuestionario CIER</a:t>
            </a:r>
            <a:br/>
            <a:r>
              <a:t>(30 Atributos, 1 a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2011680" cy="822960"/>
          </a:xfrm>
          <a:prstGeom prst="rect">
            <a:avLst/>
          </a:prstGeom>
          <a:solidFill>
            <a:srgbClr val="1E293B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Pregunta Final Directa</a:t>
            </a:r>
            <a:br/>
            <a:r>
              <a:t>(Satisfacción Global)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480560"/>
            <a:ext cx="2011680" cy="731520"/>
          </a:xfrm>
          <a:prstGeom prst="rect">
            <a:avLst/>
          </a:prstGeom>
          <a:solidFill>
            <a:srgbClr val="1E293B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Filtro Notas 9-10</a:t>
            </a:r>
            <a:br/>
            <a:r>
              <a:t>(Promotores)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394960"/>
            <a:ext cx="2011680" cy="731520"/>
          </a:xfrm>
          <a:prstGeom prst="rect">
            <a:avLst/>
          </a:prstGeom>
          <a:solidFill>
            <a:srgbClr val="1E293B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Filtro Notas 1-4</a:t>
            </a:r>
            <a:br/>
            <a:r>
              <a:t>(Detractores)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0400" y="2240280"/>
            <a:ext cx="45720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3200400" y="3611880"/>
            <a:ext cx="45720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200400" y="4754880"/>
            <a:ext cx="457200" cy="18288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3200400" y="5669280"/>
            <a:ext cx="457200" cy="18288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1828800"/>
            <a:ext cx="2194560" cy="1005840"/>
          </a:xfrm>
          <a:prstGeom prst="rect">
            <a:avLst/>
          </a:prstGeom>
          <a:solidFill>
            <a:srgbClr val="1E293B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IDAT</a:t>
            </a:r>
            <a:br/>
            <a:r>
              <a:t>Índice de Desempeño</a:t>
            </a:r>
            <a:br/>
            <a:r>
              <a:t>del Atributo (Base 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291840"/>
            <a:ext cx="2194560" cy="822960"/>
          </a:xfrm>
          <a:prstGeom prst="rect">
            <a:avLst/>
          </a:prstGeom>
          <a:solidFill>
            <a:srgbClr val="1E293B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ISG (65.60%)</a:t>
            </a:r>
            <a:br/>
            <a:r>
              <a:t>Índice de Satisfacción</a:t>
            </a:r>
            <a:br/>
            <a:r>
              <a:t>General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480560"/>
            <a:ext cx="2194560" cy="731520"/>
          </a:xfrm>
          <a:prstGeom prst="rect">
            <a:avLst/>
          </a:prstGeom>
          <a:solidFill>
            <a:srgbClr val="1E293B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IECP (27.15%)</a:t>
            </a:r>
            <a:br/>
            <a:r>
              <a:t>Excelencia de Calidad</a:t>
            </a:r>
            <a:br/>
            <a:r>
              <a:t>Percibida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5394960"/>
            <a:ext cx="2194560" cy="731520"/>
          </a:xfrm>
          <a:prstGeom prst="rect">
            <a:avLst/>
          </a:prstGeom>
          <a:solidFill>
            <a:srgbClr val="1E293B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IICP (15.19%)</a:t>
            </a:r>
            <a:br/>
            <a:r>
              <a:t>Insatisfacción con la</a:t>
            </a:r>
            <a:br/>
            <a:r>
              <a:t>Calidad Percibida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2240280"/>
            <a:ext cx="457200" cy="18288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828800"/>
            <a:ext cx="2194560" cy="1005840"/>
          </a:xfrm>
          <a:prstGeom prst="rect">
            <a:avLst/>
          </a:prstGeom>
          <a:solidFill>
            <a:srgbClr val="1E293B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IDAR</a:t>
            </a:r>
            <a:br/>
            <a:r>
              <a:t>Índice de Desempeño</a:t>
            </a:r>
            <a:br/>
            <a:r>
              <a:t>del Área Evaluada</a:t>
            </a:r>
            <a:br/>
            <a:r>
              <a:t>(SE, FE, AT, IM, IC)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69680" y="2240280"/>
            <a:ext cx="457200" cy="182880"/>
          </a:xfrm>
          <a:prstGeom prst="rightArrow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20" y="1645920"/>
            <a:ext cx="1828800" cy="1371600"/>
          </a:xfrm>
          <a:prstGeom prst="rect">
            <a:avLst/>
          </a:prstGeom>
          <a:solidFill>
            <a:srgbClr val="1E293B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ISCAL (65.96%)</a:t>
            </a:r>
            <a:br/>
            <a:r>
              <a:t>Índice Reina CIER</a:t>
            </a:r>
            <a:br/>
            <a:r>
              <a:t>Ponderado por</a:t>
            </a:r>
            <a:br/>
            <a:r>
              <a:t>Importancia (IR)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91840"/>
            <a:ext cx="4663440" cy="2834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38328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284C7"/>
                </a:solidFill>
              </a:defRPr>
            </a:pPr>
            <a:r>
              <a:t>💡 Flujo Metodológico Integrado</a:t>
            </a:r>
          </a:p>
          <a:p>
            <a:pPr>
              <a:spcAft>
                <a:spcPts val="200"/>
              </a:spcAft>
              <a:defRPr b="1" sz="1200">
                <a:solidFill>
                  <a:srgbClr val="0F172A"/>
                </a:solidFill>
              </a:defRPr>
            </a:pPr>
            <a:r>
              <a:t>• Microdatos a Atributos (IDAT): </a:t>
            </a:r>
            <a:r>
              <a:rPr b="0">
                <a:solidFill>
                  <a:srgbClr val="475569"/>
                </a:solidFill>
              </a:rPr>
              <a:t>Las 30 preguntas se normalizan a porcentaje de satisfacción individual.</a:t>
            </a:r>
          </a:p>
          <a:p>
            <a:pPr>
              <a:spcAft>
                <a:spcPts val="200"/>
              </a:spcAft>
              <a:defRPr b="1" sz="1200">
                <a:solidFill>
                  <a:srgbClr val="0F172A"/>
                </a:solidFill>
              </a:defRPr>
            </a:pPr>
            <a:r>
              <a:t>• Atributos a Áreas (IDAR): </a:t>
            </a:r>
            <a:r>
              <a:rPr b="0">
                <a:solidFill>
                  <a:srgbClr val="475569"/>
                </a:solidFill>
              </a:rPr>
              <a:t>Promedio simple de atributos pertenecientes a cada una de las 5 áreas.</a:t>
            </a:r>
          </a:p>
          <a:p>
            <a:pPr>
              <a:spcAft>
                <a:spcPts val="200"/>
              </a:spcAft>
              <a:defRPr b="1" sz="1200">
                <a:solidFill>
                  <a:srgbClr val="0F172A"/>
                </a:solidFill>
              </a:defRPr>
            </a:pPr>
            <a:r>
              <a:t>• Áreas a ISCAL Global: </a:t>
            </a:r>
            <a:r>
              <a:rPr b="0">
                <a:solidFill>
                  <a:srgbClr val="475569"/>
                </a:solidFill>
              </a:rPr>
              <a:t>Suma producto de IDAR por los Factores de Ponderación (IR) calculados por regresión múltiple.</a:t>
            </a:r>
          </a:p>
          <a:p>
            <a:pPr>
              <a:spcAft>
                <a:spcPts val="200"/>
              </a:spcAft>
              <a:defRPr b="1" sz="1200">
                <a:solidFill>
                  <a:srgbClr val="0F172A"/>
                </a:solidFill>
              </a:defRPr>
            </a:pPr>
            <a:r>
              <a:t>• Indicadores de Control: </a:t>
            </a:r>
            <a:r>
              <a:rPr b="0">
                <a:solidFill>
                  <a:srgbClr val="475569"/>
                </a:solidFill>
              </a:rPr>
              <a:t>El ISG valida la percepción global; IECP mide promotores y el IICP audita clientes detractores.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PONDERACIÓN METODOLÓGICA CIER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Cómo se Obtiene el Índice de Ponderación de las Áreas (Importancia Relativa)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📐 Modelo Matemático: Regresión Múltiple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Fundamento Estadístico: </a:t>
            </a:r>
            <a:r>
              <a:rPr b="0">
                <a:solidFill>
                  <a:srgbClr val="475569"/>
                </a:solidFill>
              </a:rPr>
              <a:t>La Importancia Relativa (IR) NO es asignada arbitrariamente ni por encuestas de opinión directa. Se deriva matemáticamente mediante un Modelo de Regresión Lineal Múltiple.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Ecuación del Modelo: </a:t>
            </a:r>
            <a:r>
              <a:rPr b="0">
                <a:solidFill>
                  <a:srgbClr val="475569"/>
                </a:solidFill>
              </a:rPr>
              <a:t>ISG = β₀ + β₁(SE) + β₂(FE) + β₃(AT) + β₄(IM) + β₅(IC) + ε
Donde los coeficientes estandarizados β representan el impacto marginal real de cada área sobre la satisfacción general.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Normalización a Base 100%: </a:t>
            </a:r>
            <a:r>
              <a:rPr b="0">
                <a:solidFill>
                  <a:srgbClr val="475569"/>
                </a:solidFill>
              </a:rPr>
              <a:t>El peso de cada área se normaliza porcentualmente: IR_Área = (|β_Área| / ∑|β_k|) × 100.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Propósito Estratégico: </a:t>
            </a:r>
            <a:r>
              <a:rPr b="0">
                <a:solidFill>
                  <a:srgbClr val="475569"/>
                </a:solidFill>
              </a:rPr>
              <a:t>Permite priorizar inversiones en las áreas que tienen mayor poder de mover la aguja de la satisfacción del cliente.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59669"/>
                </a:solidFill>
              </a:defRPr>
            </a:pPr>
            <a:r>
              <a:t>⚖️ Ponderación Oficial de Áreas (IR EPEC)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19456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80"/>
                <a:gridCol w="1005840"/>
                <a:gridCol w="1188720"/>
              </a:tblGrid>
              <a:tr h="6553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Área Evaluada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Sigla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Peso (IR)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Impacto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Suministro de Energía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33.79%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97706"/>
                          </a:solidFill>
                        </a:defRPr>
                      </a:pPr>
                      <a:r>
                        <a:t>Prioridad 1 (Crítico)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Atención al Cliente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AT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21.45%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D97706"/>
                          </a:solidFill>
                        </a:defRPr>
                      </a:pPr>
                      <a:r>
                        <a:t>Prioridad 2 (Estratégico)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Factura de Energía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18.20%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Prioridad 3 (Relevante)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Imagen Institucional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IM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14.12%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Prioridad 4 (Soporte)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Información y Comunicación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4.59%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75569"/>
                          </a:solidFill>
                        </a:defRPr>
                      </a:pPr>
                      <a:r>
                        <a:t>Prioridad 5 (Táctico)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Ecosistema de Indicadores Globales CIER (Línea Base 2025 vs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ISCAL (Índice Reina Ponderado)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65.96% </a:t>
            </a:r>
            <a:r>
              <a:rPr sz="1300" b="0">
                <a:solidFill>
                  <a:srgbClr val="475569"/>
                </a:solidFill>
              </a:rPr>
              <a:t>(2025: 63.69%)  </a:t>
            </a:r>
            <a:r>
              <a:rPr sz="1300" b="1">
                <a:solidFill>
                  <a:srgbClr val="059669"/>
                </a:solidFill>
              </a:rPr>
              <a:t>▲ +2.27 p.p.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Métrica central CIER. Integra los 30 atributos del servicio multiplicando cada IDAT por su importancia relativa (IR).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ISG (Satisfacción General)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65.60% </a:t>
            </a:r>
            <a:r>
              <a:rPr sz="1300" b="0">
                <a:solidFill>
                  <a:srgbClr val="475569"/>
                </a:solidFill>
              </a:rPr>
              <a:t>(2025: 61.12%)  </a:t>
            </a:r>
            <a:r>
              <a:rPr sz="1300" b="1">
                <a:solidFill>
                  <a:srgbClr val="059669"/>
                </a:solidFill>
              </a:rPr>
              <a:t>▲ +4.48 p.p.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Pregunta directa holística al cierre de la encuesta: 'En general, ¿cuál es su satisfacción con EPEC?'.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IAC (Aprobación del Cliente)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77.60% </a:t>
            </a:r>
            <a:r>
              <a:rPr sz="1300" b="0">
                <a:solidFill>
                  <a:srgbClr val="475569"/>
                </a:solidFill>
              </a:rPr>
              <a:t>(2025: 75.68%)  </a:t>
            </a:r>
            <a:r>
              <a:rPr sz="1300" b="1">
                <a:solidFill>
                  <a:srgbClr val="059669"/>
                </a:solidFill>
              </a:rPr>
              <a:t>▲ +1.92 p.p.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Porcentaje de clientes que otorgan notas de aprobación (calificaciones de 6 a 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IECP (Excelencia / Promotores)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27.15% </a:t>
            </a:r>
            <a:r>
              <a:rPr sz="1300" b="0">
                <a:solidFill>
                  <a:srgbClr val="475569"/>
                </a:solidFill>
              </a:rPr>
              <a:t>(2025: 21.61%)  </a:t>
            </a:r>
            <a:r>
              <a:rPr sz="1300" b="1">
                <a:solidFill>
                  <a:srgbClr val="059669"/>
                </a:solidFill>
              </a:rPr>
              <a:t>▲ +25.6% rel.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Porcentaje ponderado de clientes que otorgan exclusivamente notas de excelencia (9 y 10).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023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IICP (Insatisfacción / Críticos)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15.19% </a:t>
            </a:r>
            <a:r>
              <a:rPr sz="1300" b="0">
                <a:solidFill>
                  <a:srgbClr val="475569"/>
                </a:solidFill>
              </a:rPr>
              <a:t>(2025: 17.66%)  </a:t>
            </a:r>
            <a:r>
              <a:rPr sz="1300" b="1">
                <a:solidFill>
                  <a:srgbClr val="059669"/>
                </a:solidFill>
              </a:rPr>
              <a:t>▲ -14.0% rel.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Porcentaje de clientes en zona crítica de insatisfacción severa (calificaciones de 1 a 4).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393192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02336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0F172A"/>
                </a:solidFill>
              </a:defRPr>
            </a:pPr>
            <a:r>
              <a:t>IIS (Intermedio Satisfacción)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77.56% </a:t>
            </a:r>
            <a:r>
              <a:rPr sz="1300" b="0">
                <a:solidFill>
                  <a:srgbClr val="475569"/>
                </a:solidFill>
              </a:rPr>
              <a:t>(2025: 70.24%)  </a:t>
            </a:r>
            <a:r>
              <a:rPr sz="1300" b="1">
                <a:solidFill>
                  <a:srgbClr val="059669"/>
                </a:solidFill>
              </a:rPr>
              <a:t>▲ +7.32 p.p.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Porcentaje de encuestados con calificación mayor o igual a 7 en la evaluación general.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Composición Metodológica: Índices IDAT e IDAR (Con Ejemplos Reales)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🅰️ IDAT: Índice de Desempeño del Atributo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Definición: </a:t>
            </a:r>
            <a:r>
              <a:rPr b="0">
                <a:solidFill>
                  <a:srgbClr val="475569"/>
                </a:solidFill>
              </a:rPr>
              <a:t>Mide el porcentaje de clientes que evalúan favorablemente un atributo específico del servicio (Notas 7, 8, 9 y 10).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Fórmula Matemática: </a:t>
            </a:r>
            <a:r>
              <a:rPr b="0">
                <a:solidFill>
                  <a:srgbClr val="475569"/>
                </a:solidFill>
              </a:rPr>
              <a:t>IDAT_i = (N_sat / N_total) × 100
Donde N_sat es la cantidad de respuestas positivas (≥7).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Ejemplo Real: SE1 (Continuidad del Suministro): </a:t>
            </a:r>
            <a:r>
              <a:rPr b="0">
                <a:solidFill>
                  <a:srgbClr val="475569"/>
                </a:solidFill>
              </a:rPr>
              <a:t>• Base de encuestas: N = 625
• Notas 1 a 4 (Insatisfechos): 33 clientes (5.3%)
• Notas 5 y 6 (Neutros/Regulares): 55 clientes (8.8%)
• Notas 7 a 10 (Satisfechos): 537 clientes (85.9%)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Cálculo Resultante: </a:t>
            </a:r>
            <a:r>
              <a:rPr b="0">
                <a:solidFill>
                  <a:srgbClr val="475569"/>
                </a:solidFill>
              </a:rPr>
              <a:t>IDAT_SE1 = (537 / 625) × 100 = 85.92%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59669"/>
                </a:solidFill>
              </a:defRPr>
            </a:pPr>
            <a:r>
              <a:t>🅱️ IDAR: Índice de Desempeño del Área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Definición: </a:t>
            </a:r>
            <a:r>
              <a:rPr b="0">
                <a:solidFill>
                  <a:srgbClr val="475569"/>
                </a:solidFill>
              </a:rPr>
              <a:t>Sintetiza la satisfacción media del área temática como el promedio aritmético de sus atributos constituyentes.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Fórmula Matemática: </a:t>
            </a:r>
            <a:r>
              <a:rPr b="0">
                <a:solidFill>
                  <a:srgbClr val="475569"/>
                </a:solidFill>
              </a:rPr>
              <a:t>IDAR_Área = (1 / K) × ∑ IDAT_j (para los K atributos del área).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Ejemplo Real: Área SE (Suministro de Energía): </a:t>
            </a:r>
            <a:r>
              <a:rPr b="0">
                <a:solidFill>
                  <a:srgbClr val="475569"/>
                </a:solidFill>
              </a:rPr>
              <a:t>• IDAT_SE1 (Continuidad del servicio): 85.92%
• IDAT_SE2 (Conformidad de voltaje): 77.40%
• IDAT_SE3 (Rapidez en reanudación): 72.12%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Cálculo Resultante: </a:t>
            </a:r>
            <a:r>
              <a:rPr b="0">
                <a:solidFill>
                  <a:srgbClr val="475569"/>
                </a:solidFill>
              </a:rPr>
              <a:t>IDAR_SE = (85.92 + 77.40 + 72.12) / 3
IDAR_SE = 235.44 / 3 = 78.48%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PONDERACIÓN Y MODELO MATEMÁTICO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Cálculo Integral del ISCAL en función de IDAT e IDAR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284C7"/>
                </a:solidFill>
              </a:defRPr>
            </a:pPr>
            <a:r>
              <a:t>🏆 Ecuación Maestra del ISCAL CIER</a:t>
            </a:r>
          </a:p>
          <a:p>
            <a:pPr>
              <a:spcAft>
                <a:spcPts val="200"/>
              </a:spcAft>
              <a:defRPr b="1" sz="2000">
                <a:solidFill>
                  <a:srgbClr val="0F172A"/>
                </a:solidFill>
              </a:defRPr>
            </a:pPr>
            <a:r>
              <a:t>ISCAL = ∑ (IDAR_k × IR_k) = ∑ (IDAT_i × IR_i) = 65.96%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 ISCAL representa la suma ponderada del desempeño de cada área multiplicado por su factor de importancia relativa (IR).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72865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3108960"/>
          <a:ext cx="103327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645920"/>
                <a:gridCol w="1645920"/>
                <a:gridCol w="2286000"/>
                <a:gridCol w="1828800"/>
              </a:tblGrid>
              <a:tr h="44413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Área Evaluada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IDAR EPEC 2026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Peso Relativo (IR)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Cálculo Ponderado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Aporte al ISCAL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Suministro de Energía (SE)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78.48%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33.79%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75569"/>
                          </a:solidFill>
                        </a:defRPr>
                      </a:pPr>
                      <a:r>
                        <a:t>78.48 × 0.3379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/>
                      </a:pPr>
                      <a:r>
                        <a:t>26.52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Atención al Cliente (AT)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68.10%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21.45%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75569"/>
                          </a:solidFill>
                        </a:defRPr>
                      </a:pPr>
                      <a:r>
                        <a:t>68.10 × 0.2145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/>
                      </a:pPr>
                      <a:r>
                        <a:t>14.61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Factura de Energía (FE)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70.38%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18.20%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75569"/>
                          </a:solidFill>
                        </a:defRPr>
                      </a:pPr>
                      <a:r>
                        <a:t>70.38 × 0.1820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/>
                      </a:pPr>
                      <a:r>
                        <a:t>12.81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Imagen Institucional (IM)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60.53%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14.12%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75569"/>
                          </a:solidFill>
                        </a:defRPr>
                      </a:pPr>
                      <a:r>
                        <a:t>60.53 × 0.1412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/>
                      </a:pPr>
                      <a:r>
                        <a:t>8.55 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Información y Comunicación (IC)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52.03%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/>
                      </a:pPr>
                      <a:r>
                        <a:t>4.59%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75569"/>
                          </a:solidFill>
                        </a:defRPr>
                      </a:pPr>
                      <a:r>
                        <a:t>52.03 × 0.0459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/>
                      </a:pPr>
                      <a:r>
                        <a:t>2.39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TOTAL ISCAL OBTENIDO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F172A"/>
                          </a:solidFill>
                        </a:defRPr>
                      </a:pPr>
                      <a:r>
                        <a:t>Suma de Aportes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284C7"/>
                          </a:solidFill>
                        </a:defRPr>
                      </a:pPr>
                      <a:r>
                        <a:t>65.96% ✅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Benchmark por Áreas Evaluadas: EPEC vs. Grupo &gt;500k y Líder Regional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  <a:gridCol w="1188720"/>
                <a:gridCol w="1463040"/>
                <a:gridCol w="1280160"/>
                <a:gridCol w="146304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Dimensión / Área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EPEC 2025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EPEC 2026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Evolución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Promedio &gt;500k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Líder &gt;500k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Brecha Líder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Índice Global ISCAL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63.69%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+2.27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70.15%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83.10%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-17.14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Índice Global IAC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75.68%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77.60%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+1.92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78.50%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89.60%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-12.00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Suministro de Energía (SE)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75.79%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78.48%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+2.69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77.80%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88.50%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-10.02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Factura de Energía (FE)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70.21%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70.38%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+0.17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72.40%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82.60%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-12.22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Atención al Cliente (AT)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66.63%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68.10%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+1.47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-15.30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Imagen Institucional (IM)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56.54%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60.53%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+3.99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63.80%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79.40%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-18.87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Información y Comunicación (IC)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46.46%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52.03%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+5.57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57.40%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71.30%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-19.27 p.p.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Responsabilidad Socioamb. (RSA)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55.34%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59.57%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+4.23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60.90%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76.80%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-17.23 p.p.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DISEÑO MUESTRAL Y CRITERIOS ESTADÍSTICOS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Estratificación Territorial y Margen de Error Aceptable (N = 1.250)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9436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📍 Muestra por Zonas y Localidades Exactas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ZONA A (Córdoba Capital, Gran Córdoba, Villa Allende, La Calera): </a:t>
            </a:r>
            <a:r>
              <a:rPr b="0">
                <a:solidFill>
                  <a:srgbClr val="475569"/>
                </a:solidFill>
              </a:rPr>
              <a:t>
  ↳ 654 total (52.3%) | Margen de Error: ± 5.4%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ZONA I - Este (San Francisco, Arroyito, Morteros, Las Varillas): </a:t>
            </a:r>
            <a:r>
              <a:rPr b="0">
                <a:solidFill>
                  <a:srgbClr val="475569"/>
                </a:solidFill>
              </a:rPr>
              <a:t>
  ↳ 212 total (17.0%) | Margen de Error: ± 9.5%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ZONA H - Centro/Sudeste (Villa María, Bell Ville, Villa Nueva, Marcos Juárez): </a:t>
            </a:r>
            <a:r>
              <a:rPr b="0">
                <a:solidFill>
                  <a:srgbClr val="475569"/>
                </a:solidFill>
              </a:rPr>
              <a:t>
  ↳ 148 total (11.8%) | Margen de Error: ± 11.4%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ZONA I - Sur (Río Cuarto, La Carlota, Laboulaye, Vicuña Mackenna): </a:t>
            </a:r>
            <a:r>
              <a:rPr b="0">
                <a:solidFill>
                  <a:srgbClr val="475569"/>
                </a:solidFill>
              </a:rPr>
              <a:t>
  ↳ 128 total (10.2%) | Margen de Error: ± 12.2%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ZONA B - Punilla/Norte (Villa Carlos Paz, Alta Gracia, Cosquín, La Falda): </a:t>
            </a:r>
            <a:r>
              <a:rPr b="0">
                <a:solidFill>
                  <a:srgbClr val="475569"/>
                </a:solidFill>
              </a:rPr>
              <a:t>
  ↳ 108 total (8.6%) | Margen de Error: ± 13.3%</a:t>
            </a:r>
          </a:p>
          <a:p>
            <a:pPr>
              <a:spcAft>
                <a:spcPts val="400"/>
              </a:spcAft>
              <a:defRPr b="1" sz="1300">
                <a:solidFill>
                  <a:srgbClr val="059669"/>
                </a:solidFill>
              </a:defRPr>
            </a:pPr>
            <a:r>
              <a:t>• TOTAL PROVINCIAL EPEC: </a:t>
            </a:r>
            <a:r>
              <a:rPr b="0">
                <a:solidFill>
                  <a:srgbClr val="059669"/>
                </a:solidFill>
              </a:rPr>
              <a:t>
  ↳ 1.250 total (100%) | Margen de Error: ± 3.92% (Anual) / ± 2.77% (Consolidado) 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206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D97706"/>
                </a:solidFill>
              </a:defRPr>
            </a:pPr>
            <a:r>
              <a:t>🎯 Valores de Margen de Error Aceptables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Fórmula de Precisión Estadística: </a:t>
            </a:r>
            <a:r>
              <a:rPr b="0">
                <a:solidFill>
                  <a:srgbClr val="475569"/>
                </a:solidFill>
              </a:rPr>
              <a:t>e = (z · √(p·q)) / √n = 0.98 / √n (al 95% de confianza, z = 1.96 y p = q = 0.5 de máxima varianza).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Nivel Global / Empresa (Umbral ≤ ±5.0%): </a:t>
            </a:r>
            <a:r>
              <a:rPr b="0">
                <a:solidFill>
                  <a:srgbClr val="475569"/>
                </a:solidFill>
              </a:rPr>
              <a:t>En investigaciones socio-regulatorias CIER y estándares ESOMAR/ISO 20252, el valor de error aceptable estándar es e ≤ ±5.0% (requiere n ≥ 400). EPEC con N=625 anual logra ±3.92% (y consolidado N=1.250 logra ±2.77%), superando con máxima solidez el estándar.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Nivel Zonal / Subestratos (Umbral ≤ ±10% a ±15%): </a:t>
            </a:r>
            <a:r>
              <a:rPr b="0">
                <a:solidFill>
                  <a:srgbClr val="475569"/>
                </a:solidFill>
              </a:rPr>
              <a:t>Al subdividir en zonas con submuestras menores (n = 50 a 300), la estadística aplicada acepta un margen de error de hasta ±10% a ±15% para análisis diagnósticos de prioridades y focos de mejora local.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Diseño de Rondas Estacionales: </a:t>
            </a:r>
            <a:r>
              <a:rPr b="0">
                <a:solidFill>
                  <a:srgbClr val="475569"/>
                </a:solidFill>
              </a:rPr>
              <a:t>Divididas en Ronda 1 (312 encuestas, verano) y Ronda 2 (313 encuestas, invierno) para neutralizar sesgos climáticos.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MODELO ESTRATÉGICO DE PRIORIZACIÓN CIER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Matriz Conjunta de Definición de Acciones de Mejora (Metodología IPA)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DC2626"/>
                </a:solidFill>
              </a:defRPr>
            </a:pPr>
            <a:r>
              <a:t>🚨 CUADRANTE I: FOCO URGENTE (7 Atributos)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Alta Importancia (≥ 3.33%) · Bajo Desempeño (&lt; 64.8%)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Atributos con máxima incidencia sobre la satisfacción donde EPEC presenta calificaciones deficitarias. Exigen asignación prioritaria de recursos y planes de choque inmediatos.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Prioridades #1 al #7: IC1 (Notificación cortes), AT1 (Facilidad contacto), FE1 (Plazo factura), AT2 (Tiempo espera), IC3 (Riesgos), FE3 (Comprensión factura), IC5 (Medición consumo).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59669"/>
                </a:solidFill>
              </a:defRPr>
            </a:pPr>
            <a:r>
              <a:t>⭐ CUADRANTE II: FORTALEZAS CLAVE (4 Atributos)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Alta Importancia (≥ 3.33%) · Alto Desempeño (≥ 64.8%)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Pilares de valor donde EPEC lidera y el cliente valora fuertemente. Constituyen las palancas de confianza que blindan la reputación de la empresa.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SE1 (Continuidad 85.92%), SE3 (Rapidez reanudación 72.12%), SE2 (Estabilidad voltaje 77.40%), FE2 (Factura sin errores 78.50%).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284C7"/>
                </a:solidFill>
              </a:defRPr>
            </a:pPr>
            <a:r>
              <a:t>⚡ CUADRANTE III: VENTAJAS SECUNDARIAS (9 Atributos)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Baja Importancia (&lt; 3.33%) · Alto Desempeño (≥ 64.8%)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Servicios complementarios muy bien calificados pero con impacto marginal moderado en el índice global. Requieren eficiencia y digitalización sin sobreinversión.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FE4 (Puntos de pago 88.50%), AT6 (Cortesía 81.30%), AT4 (Conocimiento 79.10%), AT5 (Claridad 76.80%), AT3 (Agilidad 74.20%), FE5, AT7, AT8, AT9.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475569"/>
                </a:solidFill>
              </a:defRPr>
            </a:pPr>
            <a:r>
              <a:t>🔍 CUADRANTE IV: BAJA PRIORIDAD / MONITOREO (10 Atributos)</a:t>
            </a:r>
          </a:p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</a:defRPr>
            </a:pPr>
            <a:r>
              <a:t>Baja Importancia (&lt; 3.33%) · Bajo Desempeño (&lt; 64.8%)</a:t>
            </a:r>
          </a:p>
          <a:p>
            <a:pPr>
              <a:spcAft>
                <a:spcPts val="300"/>
              </a:spcAft>
              <a:defRPr sz="1100">
                <a:solidFill>
                  <a:srgbClr val="475569"/>
                </a:solidFill>
              </a:defRPr>
            </a:pPr>
            <a:r>
              <a:t>Puntos débiles secundarios que no mueven significativamente el ISCAL. Se abordan mediante mejoras continuas de bajo costo asociadas a rutinas estándar.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• IM1 a IM7 (Imagen y comunicación institucional), IC2, IC4, FE6 (Comprensión de tasas e impuestos).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MATRIZ DE ACCIONES DE MEJORA - PLAN TÁCTICO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Ranking de Prioridades #1 al #7: Cuadrante Foco Urgente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"/>
                <a:gridCol w="2011680"/>
                <a:gridCol w="822960"/>
                <a:gridCol w="914400"/>
                <a:gridCol w="822960"/>
                <a:gridCol w="4510735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Sigla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Crítico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Imp.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Desemp.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Causa Raíz y Acción Táctica Inmediata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IC1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Notificación de interrupción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Cortes sin preaviso ni horario de restitución (ETR). ➔ Alertas push/WhatsApp georreferenciadas.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AT1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Facilidad para contactarse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58.32%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Saturación del 0800 en tormentas. ➔ Bot de autogestión de reclamos por WhatsApp 24/7.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FE1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Plazo recepción vs vencimiento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63.12%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Facturas que llegan con menos de 5 días hábiles. ➔ Mínimo 10 días y factura digital anticipada.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AT2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Tiempo de espera en atención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4.30%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55.59%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Demoras telefónicas &gt;10 min y filas presenciales. ➔ Fila virtual y llamada de retorno (call-back).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IC3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Riesgos y peligros eléctricos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50.08%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Desconocimiento de normas de seguridad. ➔ Campañas audiovisuales masivas en redes y factura.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FE3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Facilidad comprensión factura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3.60%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62.19%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Confusión en cargos fijos y consumo por tramos. ➔ Rediseño visual pedagógico de la factura.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#7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IC5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Medición del consumo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/>
                      </a:pPr>
                      <a:r>
                        <a:t>44.52%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DC2626"/>
                          </a:solidFill>
                        </a:defRPr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Desconfianza en estimaciones de consumo. ➔ Historial gráfico y verificación con medidor inteligente.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DIAGNÓSTICO AVANZADO DE MICRODATOS (N = 1.250)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Perfil Sociodemográfico del Detractor: La Paradoja del Cliente Exigente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📊 Distribución Muestral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Detractores NPS (Notas 0-6): </a:t>
            </a:r>
            <a:r>
              <a:rPr b="0">
                <a:solidFill>
                  <a:srgbClr val="475569"/>
                </a:solidFill>
              </a:rPr>
              <a:t>
  ↳ 483 clientes (38.64% de la muestra total).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Detractores Severos (IICP): </a:t>
            </a:r>
            <a:r>
              <a:rPr b="0">
                <a:solidFill>
                  <a:srgbClr val="475569"/>
                </a:solidFill>
              </a:rPr>
              <a:t>
  ↳ 15.19% (votos 1 a 4 reiterados en múltiples áreas).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Neutros / Pasivos (Notas 7-8): </a:t>
            </a:r>
            <a:r>
              <a:rPr b="0">
                <a:solidFill>
                  <a:srgbClr val="475569"/>
                </a:solidFill>
              </a:rPr>
              <a:t>
  ↳ 414 clientes (33.12%).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Promotores (Notas 9-10): </a:t>
            </a:r>
            <a:r>
              <a:rPr b="0">
                <a:solidFill>
                  <a:srgbClr val="475569"/>
                </a:solidFill>
              </a:rPr>
              <a:t>
  ↳ 353 clientes (28.24%).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Edad Promedio Detractores: </a:t>
            </a:r>
            <a:r>
              <a:rPr b="0">
                <a:solidFill>
                  <a:srgbClr val="475569"/>
                </a:solidFill>
              </a:rPr>
              <a:t>
  ↳ 47.8 años (vs. 52.2 años en promotores). Más jóvenes y productivos.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Concentración 30-59 años: </a:t>
            </a:r>
            <a:r>
              <a:rPr b="0">
                <a:solidFill>
                  <a:srgbClr val="475569"/>
                </a:solidFill>
              </a:rPr>
              <a:t>
  ↳ 60.87% del total de detractores.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59669"/>
                </a:solidFill>
              </a:defRPr>
            </a:pPr>
            <a:r>
              <a:t>🎓 Educación e Ingresos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Alto Nivel de Instrucción: </a:t>
            </a:r>
            <a:r>
              <a:rPr b="0">
                <a:solidFill>
                  <a:srgbClr val="475569"/>
                </a:solidFill>
              </a:rPr>
              <a:t>
  ↳ El 77.23% completó nivel secundario o superior.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Estudios Universitarios/Terciarios: </a:t>
            </a:r>
            <a:r>
              <a:rPr b="0">
                <a:solidFill>
                  <a:srgbClr val="475569"/>
                </a:solidFill>
              </a:rPr>
              <a:t>
  ↳ 48.86% posee estudios superiores completos o en curso.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Paradoja de Ingresos: </a:t>
            </a:r>
            <a:r>
              <a:rPr b="0">
                <a:solidFill>
                  <a:srgbClr val="475569"/>
                </a:solidFill>
              </a:rPr>
              <a:t>
  ↳ Ingreso medio declarado: $1.338.726 (un +14.56% superior al de promotores: $1.168.526).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Mediana Salarial: </a:t>
            </a:r>
            <a:r>
              <a:rPr b="0">
                <a:solidFill>
                  <a:srgbClr val="475569"/>
                </a:solidFill>
              </a:rPr>
              <a:t>
  ↳ $1.100.000 / Percentil 75: $1.900.000 (Decil CIER 10.72).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Adopción Digital: </a:t>
            </a:r>
            <a:r>
              <a:rPr b="0">
                <a:solidFill>
                  <a:srgbClr val="475569"/>
                </a:solidFill>
              </a:rPr>
              <a:t>
  ↳ 85.4% adhiere a pagos y canales digitales.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Solvencia de Pago: </a:t>
            </a:r>
            <a:r>
              <a:rPr b="0">
                <a:solidFill>
                  <a:srgbClr val="475569"/>
                </a:solidFill>
              </a:rPr>
              <a:t>
  ↳ Pagan tarifa plena comercial/residencial sin subsidios plenos.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DC2626"/>
                </a:solidFill>
              </a:defRPr>
            </a:pPr>
            <a:r>
              <a:t>📍 Focos Territoriales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Capital y Gran Córdoba: </a:t>
            </a:r>
            <a:r>
              <a:rPr b="0">
                <a:solidFill>
                  <a:srgbClr val="475569"/>
                </a:solidFill>
              </a:rPr>
              <a:t>
  ↳ 59.83% de los detractores residen en esta región urbana.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Interior Provincial: </a:t>
            </a:r>
            <a:r>
              <a:rPr b="0">
                <a:solidFill>
                  <a:srgbClr val="475569"/>
                </a:solidFill>
              </a:rPr>
              <a:t>
  ↳ 40.17% distribuido en cabeceras departamentales.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Zonas Críticas Identificadas: </a:t>
            </a:r>
            <a:r>
              <a:rPr b="0">
                <a:solidFill>
                  <a:srgbClr val="475569"/>
                </a:solidFill>
              </a:rPr>
              <a:t>
  ↳ 1. Córdoba Capital (Periurbano Norte y Sur)
2. Sierras Chicas (Villa Allende, La Calera, Mendiolaza)
3. Valle de Punilla (Villa Carlos Paz, La Falda)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Dependencia Eléctrica: </a:t>
            </a:r>
            <a:r>
              <a:rPr b="0">
                <a:solidFill>
                  <a:srgbClr val="475569"/>
                </a:solidFill>
              </a:rPr>
              <a:t>
  ↳ Alta penetración de teletrabajo, comercio independiente y conectividad residencial.</a:t>
            </a:r>
          </a:p>
          <a:p>
            <a:pPr>
              <a:spcAft>
                <a:spcPts val="300"/>
              </a:spcAft>
              <a:defRPr b="1" sz="1200">
                <a:solidFill>
                  <a:srgbClr val="0F172A"/>
                </a:solidFill>
              </a:defRPr>
            </a:pPr>
            <a:r>
              <a:t>• Sensibilidad Operativa: </a:t>
            </a:r>
            <a:r>
              <a:rPr b="0">
                <a:solidFill>
                  <a:srgbClr val="475569"/>
                </a:solidFill>
              </a:rPr>
              <a:t>
  ↳ Pérdidas económicas directas ante cortes no programados.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AUDITORÍA LATINOAMERICANA (26 DISTRIBUIDORAS)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Enfoque Generacional INNOVARE-CIER: Polarización de la Satisfacción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59669"/>
                </a:solidFill>
              </a:defRPr>
            </a:pPr>
            <a:r>
              <a:t>🟢 Polo Positivo: Promotores Naturales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Generación Z (18 a 29 años): </a:t>
            </a:r>
            <a:r>
              <a:rPr b="0">
                <a:solidFill>
                  <a:srgbClr val="475569"/>
                </a:solidFill>
              </a:rPr>
              <a:t>
  ↳ Lidera las evaluaciones más positivas en 12 distribuidoras de la región. Nativos digitales acostumbrados a la interacción ágil, altamente permeables a la digitalización.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Baby Boomers (62 a 80 años): </a:t>
            </a:r>
            <a:r>
              <a:rPr b="0">
                <a:solidFill>
                  <a:srgbClr val="475569"/>
                </a:solidFill>
              </a:rPr>
              <a:t>
  ↳ Lidera las evaluaciones más positivas en 12 distribuidoras. Valoran la estabilidad institucional, el trato presencial y la trayectoria histórica de la empresa.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Consistencia Regional: </a:t>
            </a:r>
            <a:r>
              <a:rPr b="0">
                <a:solidFill>
                  <a:srgbClr val="475569"/>
                </a:solidFill>
              </a:rPr>
              <a:t>
  ↳ Ambas generaciones construyen su satisfacción desde extremos opuestos: los Boomers desde la lealtad analógica y la Gen Z desde la practicidad digital.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Oportunidad de Blindaje: </a:t>
            </a:r>
            <a:r>
              <a:rPr b="0">
                <a:solidFill>
                  <a:srgbClr val="475569"/>
                </a:solidFill>
              </a:rPr>
              <a:t>
  ↳ Mantener la calidez del trato humano y perfeccionar la inmediatez de respuesta en smartphones.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DC2626"/>
                </a:solidFill>
              </a:defRPr>
            </a:pPr>
            <a:r>
              <a:t>🔴 Polo Crítico: Núcleo Duro Detractor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Generación X (46 a 61 años): </a:t>
            </a:r>
            <a:r>
              <a:rPr b="0">
                <a:solidFill>
                  <a:srgbClr val="475569"/>
                </a:solidFill>
              </a:rPr>
              <a:t>
  ↳ Concentra las evaluaciones más negativas en 11 distribuidoras. En NINGUNA empresa de la región es la más positiva. Muy críticos con la medición, la facturación y la tensión.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Millennials / Gen Y (30 a 45 años): </a:t>
            </a:r>
            <a:r>
              <a:rPr b="0">
                <a:solidFill>
                  <a:srgbClr val="475569"/>
                </a:solidFill>
              </a:rPr>
              <a:t>
  ↳ Concentra las evaluaciones más negativas en 10 distribuidoras. Castigan con severidad la calidad de atención, los tiempos de espera y la relación valor/precio.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Población Económicamente Activa: </a:t>
            </a:r>
            <a:r>
              <a:rPr b="0">
                <a:solidFill>
                  <a:srgbClr val="475569"/>
                </a:solidFill>
              </a:rPr>
              <a:t>
  ↳ Gen X y Millennials representan a los titulares de hogares que pagan tarifa plena y dependen de la energía para teletrabajar y producir.</a:t>
            </a:r>
          </a:p>
          <a:p>
            <a:pPr>
              <a:spcAft>
                <a:spcPts val="400"/>
              </a:spcAft>
              <a:defRPr b="1" sz="1300">
                <a:solidFill>
                  <a:srgbClr val="0F172A"/>
                </a:solidFill>
              </a:defRPr>
            </a:pPr>
            <a:r>
              <a:t>• Conclusión Estratégica: </a:t>
            </a:r>
            <a:r>
              <a:rPr b="0">
                <a:solidFill>
                  <a:srgbClr val="475569"/>
                </a:solidFill>
              </a:rPr>
              <a:t>
  ↳ El éxito de un plan de satisfacción reside en desactivar los focos de fricción específicos de la Generación X y los Millennials.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DIAGNÓSTICO PSICOSOCIAL Y FOCOS DE PENALIZACIÓN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Composición del Detractor por Generación y Alertas Críticas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D97706"/>
                </a:solidFill>
              </a:defRPr>
            </a:pPr>
            <a:r>
              <a:t>🟠 GENERACIÓN X (46 a 61 años) · Pragmatismo y Control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Principal Alerta: Información sobre Medición del Consumo (IC5) y Plazos de Factura (FE1).</a:t>
            </a:r>
            <a:br/>
            <a:r>
              <a:t>• Penaliza: Variación de voltaje (SE2), conocimiento del personal (AT4) y falta de resolución definitiva en primer contacto (AT8).</a:t>
            </a:r>
            <a:br/>
            <a:r>
              <a:t>• Expectativa: Transparencia absoluta en lecturas, estabilidad técnica y trámites sin burocracia.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DC2626"/>
                </a:solidFill>
              </a:defRPr>
            </a:pPr>
            <a:r>
              <a:t>🔴 MILLENNIALS / GEN Y (30 a 45 años) · Calidad y Valor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Principal Alerta: Calidad de Atención al Cliente (AT6) y Tiempos de Espera (AT2).</a:t>
            </a:r>
            <a:br/>
            <a:r>
              <a:t>• Penaliza: Respeto a los derechos del cliente (IM1), programas comunitarios (RSA) y relación costo/beneficio de la tarifa (PR).</a:t>
            </a:r>
            <a:br/>
            <a:r>
              <a:t>• Expectativa: Omnicanalidad 24/7, respeto por su tiempo, ética corporativa y sustentabilidad.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0284C7"/>
                </a:solidFill>
              </a:defRPr>
            </a:pPr>
            <a:r>
              <a:t>🟡 GENERACIÓN Z (18 a 29 años) · Inmediatez y Predictibilidad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Principal Alerta: Aviso Anticipado de Interrupción (IC1) y Horario de Restitución (ETR).</a:t>
            </a:r>
            <a:br/>
            <a:r>
              <a:t>• Penaliza: Rapidez de reposición (SE3), duración de la atención (AT3) e incumplimiento de plazos (AT9).</a:t>
            </a:r>
            <a:br/>
            <a:r>
              <a:t>• Expectativa: Notificaciones push móviles en tiempo real y servicios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300">
                <a:solidFill>
                  <a:srgbClr val="059669"/>
                </a:solidFill>
              </a:defRPr>
            </a:pPr>
            <a:r>
              <a:t>🟢 BABY BOOMERS (62 a 80 años) · Estabilidad y Acompañamiento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Principal Alerta: Disponibilidad y Complejidad de Canales Digitales de Pago (FE4).</a:t>
            </a:r>
            <a:br/>
            <a:r>
              <a:t>• Perfil: Altamente favorable y fiel a la institución pública; no genera detracción operativa.</a:t>
            </a:r>
            <a:br/>
            <a:r>
              <a:t>• Expectativa: Preservar ventanillas comerciales y soporte telefónico humano sin forzar la digitalización.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ESTRATEGIA INTEGRAL PARA TRANSFORMAR DETRACTORES EN PROMOTORES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El Viaje (Jornada) del Cliente en 7 Etapas y Plan de Mitigación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6289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2377440"/>
                <a:gridCol w="3230575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Etapa de la Jornada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Estado Regional (26 Dist.)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Generación Crítica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Principal Fricción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Acción de Choque EPEC para Mitigar Detracción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1. Recibiendo Energía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Intermedio (14 dist.)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Generación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Lentitud de restablecimiento en tormentas y fluctuación.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Reconectadores automáticos en media tensión y cuadrillas rápidas en periurbano.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2. Información y Claridad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Crítico (14 dist.)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Generación 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Falta de claridad en medición (IC5) y aviso de cortes.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Foto de lectura en app móvil y preaviso push georreferenciado con ETR.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3. Interacción con Empresa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Intermedio (21 dist.)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Millennials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Esperas telefónicas &gt;10 min y saturación del 0800.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Bot de WhatsApp 24/7 con autogestión de reclamos y turnero virtual.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4. Facturación y Pago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Fortaleza (26 dist.)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Millennials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Descalce con cobro de haberes y comprensión de tasas.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Mínimo 10 días antes del vencimiento y adhesión a 'Vencimiento a tu medida'.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5. Obtención de Solución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Intermedio (17 dist.)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Millennials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Reiteración de llamadas (41.2%) e incumplimiento de plazo.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Protocolo FCR (First Contact Resolution) con seguimiento cerrado.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6. Confianza y Reputación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Intermedio (14 dist.)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Millennials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Falta de empatía percibida y poca difusión de obras.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Campaña de transparencia activa y difusión de inversiones comunitarias.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7. Valor Recibido / Precio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C2626"/>
                          </a:solidFill>
                        </a:defRPr>
                      </a:pPr>
                      <a:r>
                        <a:t>Crítico (26 dist.) ⚠️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Millennials / Gen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Percepción de tarifa elevada vs calidad percibida.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Factura pedagógica desglosando costo real vs impuestos de terceros.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Suministro de Energía (SE) · Peso: 33.79% · IDAR: 78.48%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914400"/>
                <a:gridCol w="914400"/>
                <a:gridCol w="100584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 (1-4)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Neut (5-7)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Pos (8-10)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SE1: Continuidad (Sin cortes)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85.92%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SE2: Conformidad de voltaje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9.1%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31.5%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59.2%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77.40%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SE3: Rapidez en reanudación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72.12%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59633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305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💡 Diagnóstico del Área SE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Mayor Peso en el ISCAL: </a:t>
            </a:r>
            <a:r>
              <a:rPr b="0">
                <a:solidFill>
                  <a:srgbClr val="475569"/>
                </a:solidFill>
              </a:rPr>
              <a:t>Representa el 33.79% del índice general, siendo el motor principal de satisfacción.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Continuidad Fuerte (85.92%): </a:t>
            </a:r>
            <a:r>
              <a:rPr b="0">
                <a:solidFill>
                  <a:srgbClr val="475569"/>
                </a:solidFill>
              </a:rPr>
              <a:t>El 67.0% de los clientes califica la continuidad con notas excelentes (8-10).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Oportunidad en Reanudación: </a:t>
            </a:r>
            <a:r>
              <a:rPr b="0">
                <a:solidFill>
                  <a:srgbClr val="475569"/>
                </a:solidFill>
              </a:rPr>
              <a:t>Un 44.6% de notas neutras (5-7) señala la demanda de mayor velocidad de reposición en tormentas severas.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Recomendación: </a:t>
            </a:r>
            <a:r>
              <a:rPr b="0">
                <a:solidFill>
                  <a:srgbClr val="475569"/>
                </a:solidFill>
              </a:rPr>
              <a:t>Inversión focalizada en telecontrol y reconectadores automáticos en alimentadores de media tensión.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Factura de Energía (FE) · Peso: 18.20% · IDAR: 70.38%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914400"/>
                <a:gridCol w="914400"/>
                <a:gridCol w="1005840"/>
              </a:tblGrid>
              <a:tr h="718457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 (1-4)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Neut (5-7)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Pos (8-10)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FE1: Plazo recepción vs vencimiento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63.12%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FE2: Factura sin errores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61.8%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78.50%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FE3: Comprensión de la factura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62.19%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FE4: Locales y canales de pago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21.5%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74.7%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88.50%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FE5: Conveniencia fecha vencimiento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68.40%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FE6: Comprensión tasas e impuestos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39.4%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59.80%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59633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305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💡 Diagnóstico del Área FE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Excelente Red de Pagos (88.50%): </a:t>
            </a:r>
            <a:r>
              <a:rPr b="0">
                <a:solidFill>
                  <a:srgbClr val="475569"/>
                </a:solidFill>
              </a:rPr>
              <a:t>El 74.7% evalúa con notas 8-10 la diversidad de canales digitales y locales de cobro.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Alta Precisión (78.50%): </a:t>
            </a:r>
            <a:r>
              <a:rPr b="0">
                <a:solidFill>
                  <a:srgbClr val="475569"/>
                </a:solidFill>
              </a:rPr>
              <a:t>Baja incidencia de errores en facturación (sólo 8.4% de notas negativas).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Cuello de Botella: Plazo (63.12%): </a:t>
            </a:r>
            <a:r>
              <a:rPr b="0">
                <a:solidFill>
                  <a:srgbClr val="475569"/>
                </a:solidFill>
              </a:rPr>
              <a:t>Un 18.8% de insatisfacción por facturas recibidas con escaso margen antes del vencimiento.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Recomendación: </a:t>
            </a:r>
            <a:r>
              <a:rPr b="0">
                <a:solidFill>
                  <a:srgbClr val="475569"/>
                </a:solidFill>
              </a:rPr>
              <a:t>Migración masiva a factura digital anticipada vía WhatsApp/Email con vencimiento programable.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Atención al Cliente (AT) · Peso: 21.45% · IDAR: 68.10%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914400"/>
                <a:gridCol w="91440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 (1-4)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Neut (5-7)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Pos (8-10)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AT1: Facilidad para contactarse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58.32%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AT2: Tiempo de espera en atención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36.1%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39.5%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55.59%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AT3: Duración de la atención (Agilidad)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74.20%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AT4: Conocimiento del personal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2.05%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61.8%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79.10%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AT5: Claridad de la información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76.80%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AT6: Cortesía y respeto en el trato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5.9%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65.5%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81.30%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AT7: Plazo informado para solución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13.6%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66.20%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AT8: Solución definitiva del problema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2.65%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38.6%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47.3%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65.80%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AT9: Cumplimiento del plazo informado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2.70%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/>
                      </a:pPr>
                      <a:r>
                        <a:t>49.3%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 b="1">
                          <a:solidFill>
                            <a:srgbClr val="0284C7"/>
                          </a:solidFill>
                        </a:defRPr>
                      </a:pPr>
                      <a:r>
                        <a:t>67.50%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59633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305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💡 Diagnóstico del Área AT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Excelente Trato Humano (81.30%): </a:t>
            </a:r>
            <a:r>
              <a:rPr b="0">
                <a:solidFill>
                  <a:srgbClr val="475569"/>
                </a:solidFill>
              </a:rPr>
              <a:t>Cortesía y respeto alcanzan el 65.5% de notas de excelencia (8-10).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Idoneidad del Personal (79.10%): </a:t>
            </a:r>
            <a:r>
              <a:rPr b="0">
                <a:solidFill>
                  <a:srgbClr val="475569"/>
                </a:solidFill>
              </a:rPr>
              <a:t>Alta valoración de la competencia técnica de los agentes comerciales.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Puntos Críticos: Contacto y Espera: </a:t>
            </a:r>
            <a:r>
              <a:rPr b="0">
                <a:solidFill>
                  <a:srgbClr val="475569"/>
                </a:solidFill>
              </a:rPr>
              <a:t>AT1 (58.32%) y AT2 (55.59%) sufren congestión en canales telefónicos durante temporales.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Recomendación: </a:t>
            </a:r>
            <a:r>
              <a:rPr b="0">
                <a:solidFill>
                  <a:srgbClr val="475569"/>
                </a:solidFill>
              </a:rPr>
              <a:t>Turnero web obligatorio y chatbot de autogestión de trámites frecuentes con 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Imagen Institucional (IM) · Peso: 14.12% · IDAR: 60.53%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914400"/>
                <a:gridCol w="914400"/>
                <a:gridCol w="100584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 (1-4)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Neut (5-7)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Pos (8-10)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IM1: Respeta derechos del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56.70%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IM2: Empresa justa y correcta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2.75%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38.1%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54.10%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IM3: Invierte en calidad del servicio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58.90%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IM4: Informa sobre su actuación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23.5%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52.30%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IM5: Se ocupa de evitar hurtos de energía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59.40%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IM6: Atiende sin discriminación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2.30%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50.3%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63.80%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IM7: Flexible y dispuesta a negociar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51.20%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59633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305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💡 Diagnóstico del Área IM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Recuperación Fuerte (+3.99 p.p.): </a:t>
            </a:r>
            <a:r>
              <a:rPr b="0">
                <a:solidFill>
                  <a:srgbClr val="475569"/>
                </a:solidFill>
              </a:rPr>
              <a:t>El área subió de 56.54% en 2025 a 60.53% en 2026, reflejando avances en obras visibles.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Igualdad de Trato (63.80%): </a:t>
            </a:r>
            <a:r>
              <a:rPr b="0">
                <a:solidFill>
                  <a:srgbClr val="475569"/>
                </a:solidFill>
              </a:rPr>
              <a:t>IM6 destaca positivamente con un 50.3% de notas altas.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Oportunidad en Flexibilidad (51.20%): </a:t>
            </a:r>
            <a:r>
              <a:rPr b="0">
                <a:solidFill>
                  <a:srgbClr val="475569"/>
                </a:solidFill>
              </a:rPr>
              <a:t>IM7 e IM4 muestran oportunidad para comunicar mejor los planes de pago y facilidades de regularización.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Recomendación: </a:t>
            </a:r>
            <a:r>
              <a:rPr b="0">
                <a:solidFill>
                  <a:srgbClr val="475569"/>
                </a:solidFill>
              </a:rPr>
              <a:t>Campaña de difusión de inversiones en redes y modernización tecnológica.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Información y Comunicación (IC) · Peso: 4.59% · IDAR: 52.03%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6858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914400"/>
                <a:gridCol w="914400"/>
                <a:gridCol w="914400"/>
                <a:gridCol w="100584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Atributo Evaluado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IR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Neg (1-4)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Neut (5-7)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% Pos (8-10)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IDAT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IC1: Notificación cortes programados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58.86%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IC2: Información cómo se mide consumo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3.03%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19.7%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38.9%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57.80%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IC3: Riesgos y seguridad eléctrica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50.08%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IC4: Derechos y deberes del cliente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27.0%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37.5%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35.5%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55.40%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IC5: Uso eficiente de la energía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/>
                      </a:pPr>
                      <a:r>
                        <a:t>32.3%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200" b="1">
                          <a:solidFill>
                            <a:srgbClr val="0284C7"/>
                          </a:solidFill>
                        </a:defRPr>
                      </a:pPr>
                      <a:r>
                        <a:t>44.52%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863840" y="1371600"/>
            <a:ext cx="359633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3057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0284C7"/>
                </a:solidFill>
              </a:defRPr>
            </a:pPr>
            <a:r>
              <a:t>💡 Diagnóstico del Área IC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Mayor Crecimiento (+5.57 p.p.): </a:t>
            </a:r>
            <a:r>
              <a:rPr b="0">
                <a:solidFill>
                  <a:srgbClr val="475569"/>
                </a:solidFill>
              </a:rPr>
              <a:t>Saltó de 46.46% a 52.03%, reflejando mejoras en canales digitales e informativos.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Preaviso de Cortes (58.86%): </a:t>
            </a:r>
            <a:r>
              <a:rPr b="0">
                <a:solidFill>
                  <a:srgbClr val="475569"/>
                </a:solidFill>
              </a:rPr>
              <a:t>IC1 lidera el área pero mantiene un 21.1% de evaluaciones negativas por falta de aviso en algunas zonas.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Eficiencia Energética (44.52%): </a:t>
            </a:r>
            <a:r>
              <a:rPr b="0">
                <a:solidFill>
                  <a:srgbClr val="475569"/>
                </a:solidFill>
              </a:rPr>
              <a:t>IC5 muestra la menor nota de la encuesta, indicando alta demanda de guías prácticas para reducir el consumo.</a:t>
            </a:r>
          </a:p>
          <a:p>
            <a:pPr>
              <a:spcAft>
                <a:spcPts val="400"/>
              </a:spcAft>
              <a:defRPr b="1" sz="1200">
                <a:solidFill>
                  <a:srgbClr val="0F172A"/>
                </a:solidFill>
              </a:defRPr>
            </a:pPr>
            <a:r>
              <a:t>• Recomendación: </a:t>
            </a:r>
            <a:r>
              <a:rPr b="0">
                <a:solidFill>
                  <a:srgbClr val="475569"/>
                </a:solidFill>
              </a:rPr>
              <a:t>Campaña multicanal de consejos de eficiencia y notificaciones SMS/WhatsApp georreferenciadas.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Tiempos Promedio de Respuesta del Cliente y Dinámica Operativa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0F172A"/>
                </a:solidFill>
              </a:defRPr>
            </a:pPr>
            <a:r>
              <a:t>⏱️ Duración Media de la Entrevista</a:t>
            </a:r>
          </a:p>
          <a:p>
            <a:pPr>
              <a:spcAft>
                <a:spcPts val="400"/>
              </a:spcAft>
              <a:defRPr b="1" sz="2200">
                <a:solidFill>
                  <a:srgbClr val="0284C7"/>
                </a:solidFill>
              </a:defRPr>
            </a:pPr>
            <a:r>
              <a:t>18 a 22 minutos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Tiempo promedio cronometrado por cuestionario presencial para garantizar respuestas reflexivas y sin sesgo de fatiga.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0F172A"/>
                </a:solidFill>
              </a:defRPr>
            </a:pPr>
            <a:r>
              <a:t>⚡ Tiempo de Reanudación Percibido</a:t>
            </a:r>
          </a:p>
          <a:p>
            <a:pPr>
              <a:spcAft>
                <a:spcPts val="400"/>
              </a:spcAft>
              <a:defRPr b="1" sz="2200">
                <a:solidFill>
                  <a:srgbClr val="059669"/>
                </a:solidFill>
              </a:defRPr>
            </a:pPr>
            <a:r>
              <a:t>68.4 min promedio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Tiempo medio estimado por el cliente ante cortes imprevistos en zonas urbanas concentradas.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0F172A"/>
                </a:solidFill>
              </a:defRPr>
            </a:pPr>
            <a:r>
              <a:t>📞 Tiempo de Espera en Canales (0800)</a:t>
            </a:r>
          </a:p>
          <a:p>
            <a:pPr>
              <a:spcAft>
                <a:spcPts val="400"/>
              </a:spcAft>
              <a:defRPr b="1" sz="2200">
                <a:solidFill>
                  <a:srgbClr val="D97706"/>
                </a:solidFill>
              </a:defRPr>
            </a:pPr>
            <a:r>
              <a:t>7.2 min promedio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Tiempo medio de espera telefónica en días habituales (se eleva a &gt;15 min en días de tormenta severa).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3035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233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500">
                <a:solidFill>
                  <a:srgbClr val="0F172A"/>
                </a:solidFill>
              </a:defRPr>
            </a:pPr>
            <a:r>
              <a:t>💳 Antelación de Factura</a:t>
            </a:r>
          </a:p>
          <a:p>
            <a:pPr>
              <a:spcAft>
                <a:spcPts val="400"/>
              </a:spcAft>
              <a:defRPr b="1" sz="2200">
                <a:solidFill>
                  <a:srgbClr val="DC2626"/>
                </a:solidFill>
              </a:defRPr>
            </a:pPr>
            <a:r>
              <a:t>6.8 días hábiles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Plazo promedio entre la recepción de la factura física y su primer vencimiento exigible.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284C7"/>
                </a:solidFill>
                <a:latin typeface="Segoe UI"/>
              </a:defRPr>
            </a:pPr>
            <a:r>
              <a:t>EPEC · ENCUESTA DE SATISFACCIÓN RESIDENCIAL CIER (2025 - 2026)</a:t>
            </a:r>
          </a:p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Conclusiones Estratégicas y Hoja de Ruta EPEC (2025 - 2026)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DC2626"/>
                </a:solidFill>
              </a:defRPr>
            </a:pPr>
            <a:r>
              <a:t>1. Desactivación del Núcleo Detractor (Generación X y Millennials)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Implementar foto de lectura en app móvil (IC5), garantizar 10 días de margen en factura (FE1) y desplegar bot de WhatsApp 24/7 para resolver reclamos en primer contacto.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D97706"/>
                </a:solidFill>
              </a:defRPr>
            </a:pPr>
            <a:r>
              <a:t>2. Plan de Choque en Notificación y Preaviso con ETR (IC1)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Alertas tempranas georreferenciadas vía WhatsApp/App ante cortes programados e imprevistos informando Horario Estimado de Restitución en &lt;15 minutos.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284C7"/>
                </a:solidFill>
              </a:defRPr>
            </a:pPr>
            <a:r>
              <a:t>3. Fila Virtual y Descongestión Telefónica (AT1 / AT2)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Turnero digital web obligatorio en sucursales y sistema de devolución de llamada (call-back) en el 0800 para reducir la espera a &lt;3 minutos.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59669"/>
                </a:solidFill>
              </a:defRPr>
            </a:pPr>
            <a:r>
              <a:t>4. Consolidación del Suministro y Valor Percibido (SE / PR)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Mantener el liderazgo en continuidad (85.92%), blindar alimentadores periurbanos y difundir el plan de obras e inversiones para jerarquizar el valor de la tarifa.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