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015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COMISIÓN DE INTEGRACIÓN ENERGÉTICA REGIONAL (CIER) · EPEC</a:t>
            </a:r>
          </a:p>
          <a:p>
            <a:pPr>
              <a:spcAft>
                <a:spcPts val="1000"/>
              </a:spcAft>
              <a:defRPr sz="2600" b="1">
                <a:solidFill>
                  <a:srgbClr val="FFFFFF"/>
                </a:solidFill>
                <a:latin typeface="Segoe UI"/>
              </a:defRPr>
            </a:pPr>
            <a:r>
              <a:t>Evolución de los Índices IDAR por Área:</a:t>
            </a:r>
            <a:br/>
            <a:r>
              <a:t>Análisis de Fricción Operativa (Notas ≤ 5 vs. &gt; 5)</a:t>
            </a:r>
          </a:p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Diagnóstico Recursivo sobre la Base de Microdatos Auditados EPEC-AR (2025 – 2026)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931920"/>
            <a:ext cx="242316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4114800"/>
            <a:ext cx="2148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94A3B8"/>
                </a:solidFill>
                <a:latin typeface="Segoe UI"/>
              </a:defRPr>
            </a:pPr>
            <a:r>
              <a:t>PESO SUMINISTRO (SE)</a:t>
            </a:r>
          </a:p>
          <a:p>
            <a:pPr>
              <a:spcAft>
                <a:spcPts val="600"/>
              </a:spcAft>
              <a:defRPr sz="2500" b="1">
                <a:solidFill>
                  <a:srgbClr val="38BDF8"/>
                </a:solidFill>
                <a:latin typeface="Segoe UI"/>
              </a:defRPr>
            </a:pPr>
            <a:r>
              <a:t>33.79%</a:t>
            </a:r>
          </a:p>
          <a:p>
            <a:pPr>
              <a:defRPr sz="950">
                <a:solidFill>
                  <a:srgbClr val="FFFFFF"/>
                </a:solidFill>
                <a:latin typeface="Segoe UI"/>
              </a:defRPr>
            </a:pPr>
            <a:r>
              <a:t>Motor Principal del ISCAL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57016" y="3931920"/>
            <a:ext cx="242316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94176" y="4114800"/>
            <a:ext cx="2148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94A3B8"/>
                </a:solidFill>
                <a:latin typeface="Segoe UI"/>
              </a:defRPr>
            </a:pPr>
            <a:r>
              <a:t>PESO ATENCIÓN (AT)</a:t>
            </a:r>
          </a:p>
          <a:p>
            <a:pPr>
              <a:spcAft>
                <a:spcPts val="600"/>
              </a:spcAft>
              <a:defRPr sz="2500" b="1">
                <a:solidFill>
                  <a:srgbClr val="34D399"/>
                </a:solidFill>
                <a:latin typeface="Segoe UI"/>
              </a:defRPr>
            </a:pPr>
            <a:r>
              <a:t>21.45%</a:t>
            </a:r>
          </a:p>
          <a:p>
            <a:pPr>
              <a:defRPr sz="950">
                <a:solidFill>
                  <a:srgbClr val="FFFFFF"/>
                </a:solidFill>
                <a:latin typeface="Segoe UI"/>
              </a:defRPr>
            </a:pPr>
            <a:r>
              <a:t>Segundo Pilar de Valor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3931920"/>
            <a:ext cx="242316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6792" y="4114800"/>
            <a:ext cx="2148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94A3B8"/>
                </a:solidFill>
                <a:latin typeface="Segoe UI"/>
              </a:defRPr>
            </a:pPr>
            <a:r>
              <a:t>PESO FACTURACIÓN (FE)</a:t>
            </a:r>
          </a:p>
          <a:p>
            <a:pPr>
              <a:spcAft>
                <a:spcPts val="600"/>
              </a:spcAft>
              <a:defRPr sz="2500" b="1">
                <a:solidFill>
                  <a:srgbClr val="FBBF24"/>
                </a:solidFill>
                <a:latin typeface="Segoe UI"/>
              </a:defRPr>
            </a:pPr>
            <a:r>
              <a:t>18.20%</a:t>
            </a:r>
          </a:p>
          <a:p>
            <a:pPr>
              <a:defRPr sz="950">
                <a:solidFill>
                  <a:srgbClr val="FFFFFF"/>
                </a:solidFill>
                <a:latin typeface="Segoe UI"/>
              </a:defRPr>
            </a:pPr>
            <a:r>
              <a:t>Previsibilidad Comercial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42248" y="3931920"/>
            <a:ext cx="242316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79408" y="4114800"/>
            <a:ext cx="2148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94A3B8"/>
                </a:solidFill>
                <a:latin typeface="Segoe UI"/>
              </a:defRPr>
            </a:pPr>
            <a:r>
              <a:t>BRECHA GLOBAL ISCAL</a:t>
            </a:r>
          </a:p>
          <a:p>
            <a:pPr>
              <a:spcAft>
                <a:spcPts val="600"/>
              </a:spcAft>
              <a:defRPr sz="2500" b="1">
                <a:solidFill>
                  <a:srgbClr val="F87171"/>
                </a:solidFill>
                <a:latin typeface="Segoe UI"/>
              </a:defRPr>
            </a:pPr>
            <a:r>
              <a:t>-25.84 p.p.</a:t>
            </a:r>
          </a:p>
          <a:p>
            <a:pPr>
              <a:defRPr sz="950">
                <a:solidFill>
                  <a:srgbClr val="FFFFFF"/>
                </a:solidFill>
                <a:latin typeface="Segoe UI"/>
              </a:defRPr>
            </a:pPr>
            <a:r>
              <a:t>83.17% (Sin) vs 57.33% (Con)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9611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38BDF8"/>
                </a:solidFill>
                <a:latin typeface="Segoe UI"/>
              </a:defRPr>
            </a:pPr>
            <a:r>
              <a:t>METODOLOGÍA DE AUDITORÍA DE MICRODATOS</a:t>
            </a:r>
          </a:p>
          <a:p>
            <a:pPr>
              <a:defRPr sz="1700" b="1">
                <a:solidFill>
                  <a:srgbClr val="FFFFFF"/>
                </a:solidFill>
                <a:latin typeface="Segoe UI"/>
              </a:defRPr>
            </a:pPr>
            <a:r>
              <a:t>Protocolo de Segmentación por Área y Matriz de Ponderación CIER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201168"/>
            <a:ext cx="160020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EPEC · CIER</a:t>
            </a:r>
          </a:p>
          <a:p>
            <a:pPr algn="ctr">
              <a:defRPr sz="900">
                <a:solidFill>
                  <a:srgbClr val="94A3B8"/>
                </a:solidFill>
                <a:latin typeface="Segoe UI"/>
              </a:defRPr>
            </a:pPr>
            <a:r>
              <a:t>Microdatos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6636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800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284C7"/>
                </a:solidFill>
                <a:latin typeface="Segoe UI"/>
              </a:defRPr>
            </a:pPr>
            <a:r>
              <a:t>⚖️ Matriz de Importancia Relativa (Pesos CIER 2026)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t>Ponderación matemática oficial que define la satisfacción global (ISCAL):</a:t>
            </a:r>
          </a:p>
          <a:p>
            <a:pPr>
              <a:spcAft>
                <a:spcPts val="4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⚡ Suministro de Energía (SE): </a:t>
            </a:r>
            <a:r>
              <a:rPr b="0">
                <a:solidFill>
                  <a:srgbClr val="475569"/>
                </a:solidFill>
              </a:rPr>
              <a:t>33.79% (Continuidad, Tensión, Reanudación)</a:t>
            </a:r>
          </a:p>
          <a:p>
            <a:pPr>
              <a:spcAft>
                <a:spcPts val="4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👤 Atención al Cliente (AT): </a:t>
            </a:r>
            <a:r>
              <a:rPr b="0">
                <a:solidFill>
                  <a:srgbClr val="475569"/>
                </a:solidFill>
              </a:rPr>
              <a:t>21.45% (Contacto, Espera, Trato, FCR)</a:t>
            </a:r>
          </a:p>
          <a:p>
            <a:pPr>
              <a:spcAft>
                <a:spcPts val="4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📄 Factura de Energía (FE): </a:t>
            </a:r>
            <a:r>
              <a:rPr b="0">
                <a:solidFill>
                  <a:srgbClr val="475569"/>
                </a:solidFill>
              </a:rPr>
              <a:t>18.20% (Plazo, Precisión, Comprensión, Pago)</a:t>
            </a:r>
          </a:p>
          <a:p>
            <a:pPr>
              <a:spcAft>
                <a:spcPts val="4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🏛️ Imagen Institucional (IM): </a:t>
            </a:r>
            <a:r>
              <a:rPr b="0">
                <a:solidFill>
                  <a:srgbClr val="475569"/>
                </a:solidFill>
              </a:rPr>
              <a:t>14.12% (Ética, Modernización, Transparencia)</a:t>
            </a:r>
          </a:p>
          <a:p>
            <a:pPr>
              <a:spcAft>
                <a:spcPts val="4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🌱 Resp. Socioambiental (RSA): </a:t>
            </a:r>
            <a:r>
              <a:rPr b="0">
                <a:solidFill>
                  <a:srgbClr val="475569"/>
                </a:solidFill>
              </a:rPr>
              <a:t>7.85% (Medio Ambiente, Desarrollo Local)</a:t>
            </a:r>
          </a:p>
          <a:p>
            <a:pPr>
              <a:spcAft>
                <a:spcPts val="4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📢 Información y Comunicación (IC): </a:t>
            </a:r>
            <a:r>
              <a:rPr b="0">
                <a:solidFill>
                  <a:srgbClr val="475569"/>
                </a:solidFill>
              </a:rPr>
              <a:t>4.59% (Notificación de Cortes, Seguridad)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E7490"/>
                </a:solidFill>
                <a:latin typeface="Segoe UI"/>
              </a:defRPr>
            </a:pPr>
            <a:r>
              <a:t>⚙️ Algoritmo de Segmentación Recursiva</a:t>
            </a:r>
          </a:p>
          <a:p>
            <a:pPr>
              <a:spcAft>
                <a:spcPts val="3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🔹 Paso 1: Separación de Grupos por Área</a:t>
            </a:r>
          </a:p>
          <a:p>
            <a:pPr>
              <a:spcAft>
                <a:spcPts val="1000"/>
              </a:spcAft>
              <a:defRPr sz="950">
                <a:solidFill>
                  <a:srgbClr val="475569"/>
                </a:solidFill>
                <a:latin typeface="Segoe UI"/>
              </a:defRPr>
            </a:pPr>
            <a:r>
              <a:t>Para cada una de las 6 áreas temáticas de forma independiente, se particiona la muestra de microdatos en dos grupos mutuamente excluyentes:</a:t>
            </a:r>
            <a:br/>
            <a:r>
              <a:t>  🔴 Grupo Con Fricción: Clientes que asignaron calificación ≤ 5 (1, 2, 3, 4 o 5) en al menos un atributo del área.</a:t>
            </a:r>
            <a:br/>
            <a:r>
              <a:t>  🟢 Grupo Sin Fricción: Clientes que calificaron todos los atributos del área con notas favorables (&gt; 5, es decir 6 a 10).</a:t>
            </a:r>
          </a:p>
          <a:p>
            <a:pPr>
              <a:spcAft>
                <a:spcPts val="3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🔹 Paso 2: Análisis de la Evolución de los IDAR</a:t>
            </a:r>
          </a:p>
          <a:p>
            <a:pPr>
              <a:spcAft>
                <a:spcPts val="1000"/>
              </a:spcAft>
              <a:defRPr sz="950">
                <a:solidFill>
                  <a:srgbClr val="475569"/>
                </a:solidFill>
                <a:latin typeface="Segoe UI"/>
              </a:defRPr>
            </a:pPr>
            <a:r>
              <a:t>Se calcula el Índice de Desempeño del Área Respectiva (IDAR base 0-100) para ambos grupos, midiendo:</a:t>
            </a:r>
            <a:br/>
            <a:r>
              <a:t>  • La brecha de desempeño resultante (Δ IDAR en puntos).</a:t>
            </a:r>
            <a:br/>
            <a:r>
              <a:t>  • El contagio sobre la Satisfacción General (ISG) y la Aprobación (IAC).</a:t>
            </a:r>
            <a:br/>
            <a:r>
              <a:t>  • El impacto en el ISCAL Global ponderado por los pesos CIER.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9611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38BDF8"/>
                </a:solidFill>
                <a:latin typeface="Segoe UI"/>
              </a:defRPr>
            </a:pPr>
            <a:r>
              <a:t>DIAGNÓSTICO CUANTITATIVO DE MICRODATOS</a:t>
            </a:r>
          </a:p>
          <a:p>
            <a:pPr>
              <a:defRPr sz="1700" b="1">
                <a:solidFill>
                  <a:srgbClr val="FFFFFF"/>
                </a:solidFill>
                <a:latin typeface="Segoe UI"/>
              </a:defRPr>
            </a:pPr>
            <a:r>
              <a:t>Tabla de Evolución de los IDAR por Área: Clientes Sin Fricción vs. Con Fricción (≤ 5)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201168"/>
            <a:ext cx="160020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EPEC · CIER</a:t>
            </a:r>
          </a:p>
          <a:p>
            <a:pPr algn="ctr">
              <a:defRPr sz="900">
                <a:solidFill>
                  <a:srgbClr val="94A3B8"/>
                </a:solidFill>
                <a:latin typeface="Segoe UI"/>
              </a:defRPr>
            </a:pPr>
            <a:r>
              <a:t>Microdatos 2026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80160"/>
          <a:ext cx="11091672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005840"/>
                <a:gridCol w="1280160"/>
                <a:gridCol w="1371600"/>
                <a:gridCol w="1280160"/>
                <a:gridCol w="1371600"/>
                <a:gridCol w="1280160"/>
                <a:gridCol w="1399032"/>
              </a:tblGrid>
              <a:tr h="640080"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Área Temática CIER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Peso CIER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% Muestra (Sin Fric.)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IDAR Sin Fric. (Todos &gt; 5)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% Muestra (Con Fric.)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IDAR Con Fric. (≥ 1 ≤ 5)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Brecha (Δ IDAR)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Impacto ISG (Δ)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40080">
                <a:tc>
                  <a:txBody>
                    <a:bodyPr lIns="73152" rIns="73152" tIns="54864" bIns="54864" wrap="square"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⚡ Suministro de Energía (SE)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33.79%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73.12% (N=457)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82.12 pts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26.88% (N=168)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57.36 pts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-24.76 pts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-14.56 pts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640080">
                <a:tc>
                  <a:txBody>
                    <a:bodyPr lIns="73152" rIns="73152" tIns="54864" bIns="54864" wrap="square"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👤 Atención al Cliente (AT)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21.45%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52.11% (N=321)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83.50 pts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47.89% (N=295)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57.28 pts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-26.22 pts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-19.19 pts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640080">
                <a:tc>
                  <a:txBody>
                    <a:bodyPr lIns="73152" rIns="73152" tIns="54864" bIns="54864" wrap="square"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📄 Factura de Energía (FE)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18.20%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50.08% (N=313)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85.16 pts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49.92% (N=312)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63.13 pts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-22.04 pts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-16.55 pts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640080">
                <a:tc>
                  <a:txBody>
                    <a:bodyPr lIns="73152" rIns="73152" tIns="54864" bIns="54864" wrap="square"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🏛️ Imagen Institucional (IM)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14.12%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43.20% (N=270)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83.56 pts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56.80% (N=355)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55.18 pts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-28.38 pts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-17.01 pts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640080">
                <a:tc>
                  <a:txBody>
                    <a:bodyPr lIns="73152" rIns="73152" tIns="54864" bIns="54864" wrap="square"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🌱 Resp. Socioambiental (RSA)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7.85%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52.98% (N=329)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81.79 pts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47.02% (N=292)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51.06 pts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-30.73 pts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-17.49 pts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640080">
                <a:tc>
                  <a:txBody>
                    <a:bodyPr lIns="73152" rIns="73152" tIns="54864" bIns="54864" wrap="square"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📢 Información y Comunicación (IC)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4.59%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39.20% (N=245)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82.60 pts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60.80% (N=380)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51.70 pts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-30.90 pts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-15.24 pts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640080">
                <a:tc>
                  <a:txBody>
                    <a:bodyPr lIns="73152" rIns="73152" tIns="54864" bIns="54864" wrap="square"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🏆 ÍNDICE GLOBAL ISCAL (PONDERADO)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83.17%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F87171"/>
                          </a:solidFill>
                          <a:latin typeface="Segoe UI"/>
                        </a:defRPr>
                      </a:pPr>
                      <a:r>
                        <a:t>57.33%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F87171"/>
                          </a:solidFill>
                          <a:latin typeface="Segoe UI"/>
                        </a:defRPr>
                      </a:pPr>
                      <a:r>
                        <a:t>-25.84 p.p.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F87171"/>
                          </a:solidFill>
                          <a:latin typeface="Segoe UI"/>
                        </a:defRPr>
                      </a:pPr>
                      <a:r>
                        <a:t>-16.80 pts (ISG)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9611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38BDF8"/>
                </a:solidFill>
                <a:latin typeface="Segoe UI"/>
              </a:defRPr>
            </a:pPr>
            <a:r>
              <a:t>DIAGNÓSTICO DE ÁREAS PRINCIPALES (55.24% DEL PESO)</a:t>
            </a:r>
          </a:p>
          <a:p>
            <a:pPr>
              <a:defRPr sz="1700" b="1">
                <a:solidFill>
                  <a:srgbClr val="FFFFFF"/>
                </a:solidFill>
                <a:latin typeface="Segoe UI"/>
              </a:defRPr>
            </a:pPr>
            <a:r>
              <a:t>Suministro de Energía (33.79%) y Atención al Cliente (21.45%)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201168"/>
            <a:ext cx="160020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EPEC · CIER</a:t>
            </a:r>
          </a:p>
          <a:p>
            <a:pPr algn="ctr">
              <a:defRPr sz="900">
                <a:solidFill>
                  <a:srgbClr val="94A3B8"/>
                </a:solidFill>
                <a:latin typeface="Segoe UI"/>
              </a:defRPr>
            </a:pPr>
            <a:r>
              <a:t>Microdatos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6636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800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284C7"/>
                </a:solidFill>
                <a:latin typeface="Segoe UI"/>
              </a:defRPr>
            </a:pPr>
            <a:r>
              <a:t>⚡ Suministro de Energía (SE) · Peso: 33.79%</a:t>
            </a:r>
          </a:p>
          <a:p>
            <a:pPr>
              <a:spcAft>
                <a:spcPts val="600"/>
              </a:spcAft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Mayoría Confiable (73.12%): </a:t>
            </a:r>
            <a:r>
              <a:rPr b="0">
                <a:solidFill>
                  <a:srgbClr val="475569"/>
                </a:solidFill>
              </a:rPr>
              <a:t>El 73.12% de los clientes (N=457) no experimentó fallas severas en continuidad o voltaje, otorgando un IDAR-SE de 82.12 pts y un ISG de 73.54 pts.</a:t>
            </a:r>
          </a:p>
          <a:p>
            <a:pPr>
              <a:spcAft>
                <a:spcPts val="600"/>
              </a:spcAft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Fricción Focalizada (26.88%): </a:t>
            </a:r>
            <a:r>
              <a:rPr b="0">
                <a:solidFill>
                  <a:srgbClr val="475569"/>
                </a:solidFill>
              </a:rPr>
              <a:t>Un 26.88% de la muestra (N=168) calificó con ≤ 5 al menos un atributo (mayormente rapidez de reanudación SE3 tras tormentas).</a:t>
            </a:r>
          </a:p>
          <a:p>
            <a:pPr>
              <a:spcAft>
                <a:spcPts val="600"/>
              </a:spcAft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Desplome del IDAR: </a:t>
            </a:r>
            <a:r>
              <a:rPr b="0">
                <a:solidFill>
                  <a:srgbClr val="475569"/>
                </a:solidFill>
              </a:rPr>
              <a:t>El IDAR-SE cae 24.76 puntos (de 82.12 a 57.36 pts).</a:t>
            </a:r>
          </a:p>
          <a:p>
            <a:pPr>
              <a:spcAft>
                <a:spcPts val="600"/>
              </a:spcAft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Impacto en Aprobación (IAC): </a:t>
            </a:r>
            <a:r>
              <a:rPr b="0">
                <a:solidFill>
                  <a:srgbClr val="475569"/>
                </a:solidFill>
              </a:rPr>
              <a:t>La aprobación institucional se derrumba del 87.09% al 57.14% (-29.95 p.p.).</a:t>
            </a:r>
          </a:p>
          <a:p>
            <a:pPr>
              <a:spcAft>
                <a:spcPts val="600"/>
              </a:spcAft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Implicancia Estratégica: </a:t>
            </a:r>
            <a:r>
              <a:rPr b="0">
                <a:solidFill>
                  <a:srgbClr val="475569"/>
                </a:solidFill>
              </a:rPr>
              <a:t>SE es el motor de satisfacción; resolver demoras en reanudación periurbana protege directamente un tercio del ISCAL total.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E7490"/>
                </a:solidFill>
                <a:latin typeface="Segoe UI"/>
              </a:defRPr>
            </a:pPr>
            <a:r>
              <a:t>👤 Atención al Cliente (AT) · Peso: 21.45%</a:t>
            </a:r>
          </a:p>
          <a:p>
            <a:pPr>
              <a:spcAft>
                <a:spcPts val="600"/>
              </a:spcAft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Fuerte Polarización (47.89% de Fricción): </a:t>
            </a:r>
            <a:r>
              <a:rPr b="0">
                <a:solidFill>
                  <a:srgbClr val="475569"/>
                </a:solidFill>
              </a:rPr>
              <a:t>Casi la mitad de los usuarios (N=295) califica con ≤ 5 la facilidad de contacto (AT1) o el tiempo de espera (AT2).</a:t>
            </a:r>
          </a:p>
          <a:p>
            <a:pPr>
              <a:spcAft>
                <a:spcPts val="600"/>
              </a:spcAft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Excelente Desempeño en Grupo Favorable: </a:t>
            </a:r>
            <a:r>
              <a:rPr b="0">
                <a:solidFill>
                  <a:srgbClr val="475569"/>
                </a:solidFill>
              </a:rPr>
              <a:t>En el 52.11% sin fricción, el IDAR-AT alcanza 83.50 pts con un ISG sobresaliente de 78.79 pts y 95.02% de aprobación.</a:t>
            </a:r>
          </a:p>
          <a:p>
            <a:pPr>
              <a:spcAft>
                <a:spcPts val="600"/>
              </a:spcAft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Mayor Destrucción de Satisfacción Global: </a:t>
            </a:r>
            <a:r>
              <a:rPr b="0">
                <a:solidFill>
                  <a:srgbClr val="475569"/>
                </a:solidFill>
              </a:rPr>
              <a:t>La fricción en AT genera la mayor caída de ISG de toda la empresa: -19.19 pts (de 78.79 a 59.59 pts).</a:t>
            </a:r>
          </a:p>
          <a:p>
            <a:pPr>
              <a:spcAft>
                <a:spcPts val="600"/>
              </a:spcAft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Pérdida Masiva de Aprobación: </a:t>
            </a:r>
            <a:r>
              <a:rPr b="0">
                <a:solidFill>
                  <a:srgbClr val="475569"/>
                </a:solidFill>
              </a:rPr>
              <a:t>El IAC se desploma del 95.02% al 61.36% (-33.66 p.p.).</a:t>
            </a:r>
          </a:p>
          <a:p>
            <a:pPr>
              <a:spcAft>
                <a:spcPts val="600"/>
              </a:spcAft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Implicancia Estratégica: </a:t>
            </a:r>
            <a:r>
              <a:rPr b="0">
                <a:solidFill>
                  <a:srgbClr val="475569"/>
                </a:solidFill>
              </a:rPr>
              <a:t>La saturación telefónica convierte a clientes neutrales en detractores. Bot de WhatsApp y turnero web son de máxima urgencia.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9611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38BDF8"/>
                </a:solidFill>
                <a:latin typeface="Segoe UI"/>
              </a:defRPr>
            </a:pPr>
            <a:r>
              <a:t>DIAGNÓSTICO DE PILARES COMERCIALES E INSTITUCIONALES (32.32% DEL PESO)</a:t>
            </a:r>
          </a:p>
          <a:p>
            <a:pPr>
              <a:defRPr sz="1700" b="1">
                <a:solidFill>
                  <a:srgbClr val="FFFFFF"/>
                </a:solidFill>
                <a:latin typeface="Segoe UI"/>
              </a:defRPr>
            </a:pPr>
            <a:r>
              <a:t>Factura de Energía (18.20%) e Imagen Institucional (14.12%)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201168"/>
            <a:ext cx="160020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EPEC · CIER</a:t>
            </a:r>
          </a:p>
          <a:p>
            <a:pPr algn="ctr">
              <a:defRPr sz="900">
                <a:solidFill>
                  <a:srgbClr val="94A3B8"/>
                </a:solidFill>
                <a:latin typeface="Segoe UI"/>
              </a:defRPr>
            </a:pPr>
            <a:r>
              <a:t>Microdatos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6636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800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D97706"/>
                </a:solidFill>
                <a:latin typeface="Segoe UI"/>
              </a:defRPr>
            </a:pPr>
            <a:r>
              <a:t>📄 Factura de Energía (FE) · Peso: 18.20%</a:t>
            </a:r>
          </a:p>
          <a:p>
            <a:pPr>
              <a:spcAft>
                <a:spcPts val="600"/>
              </a:spcAft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División Exacta 50/50: </a:t>
            </a:r>
            <a:r>
              <a:rPr b="0">
                <a:solidFill>
                  <a:srgbClr val="475569"/>
                </a:solidFill>
              </a:rPr>
              <a:t>50.08% de los clientes (N=313) evalúa con notas &gt;5, mientras el 49.92% (N=312) reporta fricción en plazo de entrega (FE1) o comprensión (FE3).</a:t>
            </a:r>
          </a:p>
          <a:p>
            <a:pPr>
              <a:spcAft>
                <a:spcPts val="600"/>
              </a:spcAft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Máximo IDAR en Clientes Satisfechos (85.16 pts): </a:t>
            </a:r>
            <a:r>
              <a:rPr b="0">
                <a:solidFill>
                  <a:srgbClr val="475569"/>
                </a:solidFill>
              </a:rPr>
              <a:t>La amplia red de cobro y billeteras digitales (FE4) es altamente valorada cuando la factura llega a tiempo.</a:t>
            </a:r>
          </a:p>
          <a:p>
            <a:pPr>
              <a:spcAft>
                <a:spcPts val="600"/>
              </a:spcAft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Desplome de 22.04 pts: </a:t>
            </a:r>
            <a:r>
              <a:rPr b="0">
                <a:solidFill>
                  <a:srgbClr val="475569"/>
                </a:solidFill>
              </a:rPr>
              <a:t>El IDAR-FE cae de 85.16 a 63.13 pts en el segmento con fricción.</a:t>
            </a:r>
          </a:p>
          <a:p>
            <a:pPr>
              <a:spcAft>
                <a:spcPts val="600"/>
              </a:spcAft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Impacto en ISG e IAC: </a:t>
            </a:r>
            <a:r>
              <a:rPr b="0">
                <a:solidFill>
                  <a:srgbClr val="475569"/>
                </a:solidFill>
              </a:rPr>
              <a:t>La satisfacción general desciende -16.55 pts y la aprobación cae del 92.33% al 65.71% (-26.63 p.p.).</a:t>
            </a:r>
          </a:p>
          <a:p>
            <a:pPr>
              <a:spcAft>
                <a:spcPts val="600"/>
              </a:spcAft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Acción Táctica: </a:t>
            </a:r>
            <a:r>
              <a:rPr b="0">
                <a:solidFill>
                  <a:srgbClr val="475569"/>
                </a:solidFill>
              </a:rPr>
              <a:t>Garantizar 10 días de margen antes del vencimiento y facturación digital anticipada elimina la fricción de la mitad de la muestra.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6366F1"/>
                </a:solidFill>
                <a:latin typeface="Segoe UI"/>
              </a:defRPr>
            </a:pPr>
            <a:r>
              <a:t>🏛️ Imagen Institucional (IM) · Peso: 14.12%</a:t>
            </a:r>
          </a:p>
          <a:p>
            <a:pPr>
              <a:spcAft>
                <a:spcPts val="600"/>
              </a:spcAft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Mayor Concentración de Fricción (56.80%): </a:t>
            </a:r>
            <a:r>
              <a:rPr b="0">
                <a:solidFill>
                  <a:srgbClr val="475569"/>
                </a:solidFill>
              </a:rPr>
              <a:t>El 56.80% de los encuestados (N=355) califica con ≤ 5 atributos de flexibilidad comercial (IM7) y percepción de transparencia (IM4).</a:t>
            </a:r>
          </a:p>
          <a:p>
            <a:pPr>
              <a:spcAft>
                <a:spcPts val="600"/>
              </a:spcAft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Contraste Radical de IDAR (83.56 vs 55.18 pts): </a:t>
            </a:r>
            <a:r>
              <a:rPr b="0">
                <a:solidFill>
                  <a:srgbClr val="475569"/>
                </a:solidFill>
              </a:rPr>
              <a:t>Brecha severa de -28.38 puntos entre ambos grupos.</a:t>
            </a:r>
          </a:p>
          <a:p>
            <a:pPr>
              <a:spcAft>
                <a:spcPts val="600"/>
              </a:spcAft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Impacto en Confianza: </a:t>
            </a:r>
            <a:r>
              <a:rPr b="0">
                <a:solidFill>
                  <a:srgbClr val="475569"/>
                </a:solidFill>
              </a:rPr>
              <a:t>El grupo sin fricción otorga un ISG de 79.30 pts y 94.81% de aprobación; ante fricción el IAC cae al 67.04% (-27.77 p.p.).</a:t>
            </a:r>
          </a:p>
          <a:p>
            <a:pPr>
              <a:spcAft>
                <a:spcPts val="600"/>
              </a:spcAft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Naturaleza del Atributo: </a:t>
            </a:r>
            <a:r>
              <a:rPr b="0">
                <a:solidFill>
                  <a:srgbClr val="475569"/>
                </a:solidFill>
              </a:rPr>
              <a:t>La imagen es un indicador sintético de 'segundo orden': se deteriora como consecuencia acumulativa de fallas en SE, AT y FE.</a:t>
            </a:r>
          </a:p>
          <a:p>
            <a:pPr>
              <a:spcAft>
                <a:spcPts val="600"/>
              </a:spcAft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Acción Táctica: </a:t>
            </a:r>
            <a:r>
              <a:rPr b="0">
                <a:solidFill>
                  <a:srgbClr val="475569"/>
                </a:solidFill>
              </a:rPr>
              <a:t>Comunicar inversiones y modernización tecnológica para reforzar la reputación corporativa.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9611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38BDF8"/>
                </a:solidFill>
                <a:latin typeface="Segoe UI"/>
              </a:defRPr>
            </a:pPr>
            <a:r>
              <a:t>DIAGNÓSTICO DE DIMENSIONES COMPLEMENTARIAS (12.44% DEL PESO)</a:t>
            </a:r>
          </a:p>
          <a:p>
            <a:pPr>
              <a:defRPr sz="1700" b="1">
                <a:solidFill>
                  <a:srgbClr val="FFFFFF"/>
                </a:solidFill>
                <a:latin typeface="Segoe UI"/>
              </a:defRPr>
            </a:pPr>
            <a:r>
              <a:t>Resp. Socioambiental (7.85%) e Información y Comunicación (4.59%)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201168"/>
            <a:ext cx="160020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EPEC · CIER</a:t>
            </a:r>
          </a:p>
          <a:p>
            <a:pPr algn="ctr">
              <a:defRPr sz="900">
                <a:solidFill>
                  <a:srgbClr val="94A3B8"/>
                </a:solidFill>
                <a:latin typeface="Segoe UI"/>
              </a:defRPr>
            </a:pPr>
            <a:r>
              <a:t>Microdatos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6636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800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59669"/>
                </a:solidFill>
                <a:latin typeface="Segoe UI"/>
              </a:defRPr>
            </a:pPr>
            <a:r>
              <a:t>🌱 Resp. Socioambiental (RSA) · Peso: 7.85%</a:t>
            </a:r>
          </a:p>
          <a:p>
            <a:pPr>
              <a:spcAft>
                <a:spcPts val="600"/>
              </a:spcAft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Desconocimiento y Penalización (47.02% de Fricción): </a:t>
            </a:r>
            <a:r>
              <a:rPr b="0">
                <a:solidFill>
                  <a:srgbClr val="475569"/>
                </a:solidFill>
              </a:rPr>
              <a:t>47.02% de los encuestados califica con notas ≤ 5 por falta de visibilidad de programas comunitarios y prevención.</a:t>
            </a:r>
          </a:p>
          <a:p>
            <a:pPr>
              <a:spcAft>
                <a:spcPts val="600"/>
              </a:spcAft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Caída Severa de IDAR (-30.73 pts): </a:t>
            </a:r>
            <a:r>
              <a:rPr b="0">
                <a:solidFill>
                  <a:srgbClr val="475569"/>
                </a:solidFill>
              </a:rPr>
              <a:t>El IDAR-RSA se desploma de 81.79 a 51.06 pts en clientes que perciben baja contribución ambiental.</a:t>
            </a:r>
          </a:p>
          <a:p>
            <a:pPr>
              <a:spcAft>
                <a:spcPts val="600"/>
              </a:spcAft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Impacto en Aprobación Global: </a:t>
            </a:r>
            <a:r>
              <a:rPr b="0">
                <a:solidFill>
                  <a:srgbClr val="475569"/>
                </a:solidFill>
              </a:rPr>
              <a:t>El IAC cae del 93.01% al 63.70% (-29.31 p.p.).</a:t>
            </a:r>
          </a:p>
          <a:p>
            <a:pPr>
              <a:spcAft>
                <a:spcPts val="600"/>
              </a:spcAft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Demanda Social: </a:t>
            </a:r>
            <a:r>
              <a:rPr b="0">
                <a:solidFill>
                  <a:srgbClr val="475569"/>
                </a:solidFill>
              </a:rPr>
              <a:t>Sensibilidad creciente en jóvenes y familias hacia el cuidado del arbolado urbano y la prevención de accidentes eléctricos.</a:t>
            </a:r>
          </a:p>
          <a:p>
            <a:pPr>
              <a:spcAft>
                <a:spcPts val="600"/>
              </a:spcAft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Acción Táctica: </a:t>
            </a:r>
            <a:r>
              <a:rPr b="0">
                <a:solidFill>
                  <a:srgbClr val="475569"/>
                </a:solidFill>
              </a:rPr>
              <a:t>Difusión comunitaria de podas preventivas seguras y proyectos de energía renovable provincial.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DC2626"/>
                </a:solidFill>
                <a:latin typeface="Segoe UI"/>
              </a:defRPr>
            </a:pPr>
            <a:r>
              <a:t>📢 Información y Comunicación (IC) · Peso: 4.59%</a:t>
            </a:r>
          </a:p>
          <a:p>
            <a:pPr>
              <a:spcAft>
                <a:spcPts val="600"/>
              </a:spcAft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Mayor Dispersión de Fricción (60.80%): </a:t>
            </a:r>
            <a:r>
              <a:rPr b="0">
                <a:solidFill>
                  <a:srgbClr val="475569"/>
                </a:solidFill>
              </a:rPr>
              <a:t>El 60.80% de los encuestados (N=380) califica con ≤ 5 la falta de aviso previo de cortes (IC1) y riesgos (IC3).</a:t>
            </a:r>
          </a:p>
          <a:p>
            <a:pPr>
              <a:spcAft>
                <a:spcPts val="600"/>
              </a:spcAft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Mayor Brecha de IDAR de la Empresa (-30.90 pts): </a:t>
            </a:r>
            <a:r>
              <a:rPr b="0">
                <a:solidFill>
                  <a:srgbClr val="475569"/>
                </a:solidFill>
              </a:rPr>
              <a:t>El IDAR-IC se derrumba de 82.60 a 51.70 pts, reflejando el déficit en preaviso.</a:t>
            </a:r>
          </a:p>
          <a:p>
            <a:pPr>
              <a:spcAft>
                <a:spcPts val="600"/>
              </a:spcAft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Alta Satisfacción en el 39.20% Informado: </a:t>
            </a:r>
            <a:r>
              <a:rPr b="0">
                <a:solidFill>
                  <a:srgbClr val="475569"/>
                </a:solidFill>
              </a:rPr>
              <a:t>Cuando el usuario recibe información oportuna, otorga 82.60 pts de IDAR, 78.90 pts de ISG y 94.29% de aprobación.</a:t>
            </a:r>
          </a:p>
          <a:p>
            <a:pPr>
              <a:spcAft>
                <a:spcPts val="600"/>
              </a:spcAft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Efecto Desencadenante: </a:t>
            </a:r>
            <a:r>
              <a:rPr b="0">
                <a:solidFill>
                  <a:srgbClr val="475569"/>
                </a:solidFill>
              </a:rPr>
              <a:t>Aunque IC pesa 4.59%, la falta de aviso de corte detona reclamos que colapsan AT1 y destruyen la percepción de SE.</a:t>
            </a:r>
          </a:p>
          <a:p>
            <a:pPr>
              <a:spcAft>
                <a:spcPts val="600"/>
              </a:spcAft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Acción Táctica: </a:t>
            </a:r>
            <a:r>
              <a:rPr b="0">
                <a:solidFill>
                  <a:srgbClr val="475569"/>
                </a:solidFill>
              </a:rPr>
              <a:t>WhatsApp proactivo georreferenciado informando causas y ETR en &lt;15 minutos.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9611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38BDF8"/>
                </a:solidFill>
                <a:latin typeface="Segoe UI"/>
              </a:defRPr>
            </a:pPr>
            <a:r>
              <a:t>SÍNTESIS EJECUTIVA Y HALLAZGOS CLAVE</a:t>
            </a:r>
          </a:p>
          <a:p>
            <a:pPr>
              <a:defRPr sz="1700" b="1">
                <a:solidFill>
                  <a:srgbClr val="FFFFFF"/>
                </a:solidFill>
                <a:latin typeface="Segoe UI"/>
              </a:defRPr>
            </a:pPr>
            <a:r>
              <a:t>Impacto Integral en el ISCAL Ponderado y Conclusiones de Gestión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201168"/>
            <a:ext cx="160020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EPEC · CIER</a:t>
            </a:r>
          </a:p>
          <a:p>
            <a:pPr algn="ctr">
              <a:defRPr sz="900">
                <a:solidFill>
                  <a:srgbClr val="94A3B8"/>
                </a:solidFill>
                <a:latin typeface="Segoe UI"/>
              </a:defRPr>
            </a:pPr>
            <a:r>
              <a:t>Microdatos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59669"/>
                </a:solidFill>
                <a:latin typeface="Segoe UI"/>
              </a:defRPr>
            </a:pPr>
            <a:r>
              <a:t>🟢 ESCENARIO SIN FRICCIÓN</a:t>
            </a:r>
            <a:br/>
            <a:r>
              <a:t>(Todos los Atributos &gt; 5)</a:t>
            </a:r>
          </a:p>
          <a:p>
            <a:pPr>
              <a:defRPr sz="1000">
                <a:solidFill>
                  <a:srgbClr val="0F172A"/>
                </a:solidFill>
                <a:latin typeface="Segoe UI"/>
              </a:defRPr>
            </a:pPr>
            <a:r>
              <a:t>ISCAL Ponderado: 83.17%</a:t>
            </a:r>
            <a:br/>
            <a:r>
              <a:t>Satisfacción General (ISG): 78.2 pts</a:t>
            </a:r>
            <a:br/>
            <a:r>
              <a:t>Aprobación (IAC): 93.8%</a:t>
            </a:r>
            <a:br/>
            <a:br/>
            <a:r>
              <a:t>• Perfil de Empresa Líder regional (&gt;500k clientes).</a:t>
            </a:r>
            <a:br/>
            <a:r>
              <a:t>• El usuario percibe confiabilidad técnica, solvencia en atención y transparencia tarifaria.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8264" y="1371600"/>
            <a:ext cx="3383280" cy="493776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81144" y="15544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DC2626"/>
                </a:solidFill>
                <a:latin typeface="Segoe UI"/>
              </a:defRPr>
            </a:pPr>
            <a:r>
              <a:t>🔴 ESCENARIO CON FRICCIÓN</a:t>
            </a:r>
            <a:br/>
            <a:r>
              <a:t>(Al Menos 1 Atributo ≤ 5)</a:t>
            </a:r>
          </a:p>
          <a:p>
            <a:pPr>
              <a:defRPr sz="1000">
                <a:solidFill>
                  <a:srgbClr val="0F172A"/>
                </a:solidFill>
                <a:latin typeface="Segoe UI"/>
              </a:defRPr>
            </a:pPr>
            <a:r>
              <a:t>ISCAL Ponderado: 57.33%</a:t>
            </a:r>
            <a:br/>
            <a:r>
              <a:t>Satisfacción General (ISG): 61.4 pts</a:t>
            </a:r>
            <a:br/>
            <a:r>
              <a:t>Aprobación (IAC): 64.0%</a:t>
            </a:r>
            <a:br/>
            <a:br/>
            <a:r>
              <a:t>• Brecha Global: -25.84 p.p. en ISCAL.</a:t>
            </a:r>
            <a:br/>
            <a:r>
              <a:t>• Desplome masivo de lealtad: el cliente neutral pasa a detractor crítico y viraliza quejas.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71600"/>
            <a:ext cx="33832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7888" y="15544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🎯 PALANCAS DE TRANSFORMACIÓN</a:t>
            </a:r>
            <a:br/>
            <a:r>
              <a:t>(Plan de Choque Operativo)</a:t>
            </a:r>
          </a:p>
          <a:p>
            <a:pPr>
              <a:defRPr sz="1000">
                <a:solidFill>
                  <a:srgbClr val="0F172A"/>
                </a:solidFill>
                <a:latin typeface="Segoe UI"/>
              </a:defRPr>
            </a:pPr>
            <a:r>
              <a:t>1. Suministro (33.79%): Reducir reanudación en tormentas.</a:t>
            </a:r>
            <a:br/>
            <a:r>
              <a:t>2. Atención (21.45%): Bot 24/7 y Fila Virtual.</a:t>
            </a:r>
            <a:br/>
            <a:r>
              <a:t>3. Facturación (18.20%): 10 días de margen garantizado.</a:t>
            </a:r>
            <a:br/>
            <a:r>
              <a:t>4. Comunicación (4.59%): WhatsApp proactivo con ETR.</a:t>
            </a:r>
            <a:br/>
            <a:br/>
            <a:r>
              <a:t>Meta 2027: Llevar el ISCAL consolidado a &gt;75.0%.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575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400" b="1">
                <a:solidFill>
                  <a:srgbClr val="38BDF8"/>
                </a:solidFill>
                <a:latin typeface="Segoe UI"/>
              </a:defRPr>
            </a:pPr>
            <a:r>
              <a:t>EPEC · CIENCIA DE DATOS &amp; BI</a:t>
            </a:r>
          </a:p>
          <a:p>
            <a:pPr algn="ctr">
              <a:spcAft>
                <a:spcPts val="140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¡Muchas Gracias!</a:t>
            </a:r>
          </a:p>
          <a:p>
            <a:pPr algn="ctr">
              <a:defRPr sz="1400">
                <a:solidFill>
                  <a:srgbClr val="94A3B8"/>
                </a:solidFill>
                <a:latin typeface="Segoe UI"/>
              </a:defRPr>
            </a:pPr>
            <a:r>
              <a:t>Empresa Provincial de Energía de Córdoba (EPEC)</a:t>
            </a:r>
            <a:br/>
            <a:r>
              <a:t>Encuesta de Satisfacción del Consumidor Residencial CIER (2025 - 2026)</a:t>
            </a:r>
            <a:br/>
            <a:r>
              <a:t>Diagnóstico Recursivo de Microdatos · Matriz de Importancia Relativa Oficial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