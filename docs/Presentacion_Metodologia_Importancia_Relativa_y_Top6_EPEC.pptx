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COMISIÓN DE INTEGRACIÓN ENERGÉTICA REGIONAL (CIER)</a:t>
            </a:r>
          </a:p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Segoe UI"/>
              </a:defRPr>
            </a:pPr>
            <a:r>
              <a:t>Informe Metodológico y Diagnóstico de Impacto:</a:t>
            </a:r>
            <a:br/>
            <a:r>
              <a:t>Importancia Relativa y Análisis del TOP 6 Crítico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Encuesta de Satisfacción del Consumidor Residencial · EPEC-AR (Período 2025 – 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24231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1148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ISCAL 2026</a:t>
            </a:r>
          </a:p>
          <a:p>
            <a:pPr>
              <a:spcAft>
                <a:spcPts val="600"/>
              </a:spcAft>
              <a:defRPr sz="2600" b="1">
                <a:solidFill>
                  <a:srgbClr val="38BDF8"/>
                </a:solidFill>
                <a:latin typeface="Segoe UI"/>
              </a:defRPr>
            </a:pPr>
            <a:r>
              <a:t>65.96%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+2.27 p.p. vs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7016" y="3931920"/>
            <a:ext cx="24231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176" y="41148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APROBACIÓN (IAC)</a:t>
            </a:r>
          </a:p>
          <a:p>
            <a:pPr>
              <a:spcAft>
                <a:spcPts val="600"/>
              </a:spcAft>
              <a:defRPr sz="2600" b="1">
                <a:solidFill>
                  <a:srgbClr val="34D399"/>
                </a:solidFill>
                <a:latin typeface="Segoe UI"/>
              </a:defRPr>
            </a:pPr>
            <a:r>
              <a:t>77.60%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+1.92 p.p. de Aprobación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931920"/>
            <a:ext cx="24231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41148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MUESTRA AUDITADA</a:t>
            </a:r>
          </a:p>
          <a:p>
            <a:pPr>
              <a:spcAft>
                <a:spcPts val="600"/>
              </a:spcAft>
              <a:defRPr sz="2600" b="1">
                <a:solidFill>
                  <a:srgbClr val="FBBF24"/>
                </a:solidFill>
                <a:latin typeface="Segoe UI"/>
              </a:defRPr>
            </a:pPr>
            <a:r>
              <a:t>N = 1.250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Error Provincial ±2.77%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8" y="3931920"/>
            <a:ext cx="24231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411480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TOP 6 CRÍTICO</a:t>
            </a:r>
          </a:p>
          <a:p>
            <a:pPr>
              <a:spcAft>
                <a:spcPts val="600"/>
              </a:spcAft>
              <a:defRPr sz="2600" b="1">
                <a:solidFill>
                  <a:srgbClr val="F87171"/>
                </a:solidFill>
                <a:latin typeface="Segoe UI"/>
              </a:defRPr>
            </a:pPr>
            <a:r>
              <a:t>Cuadrante Foco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Puntos de Quiebre Operativo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ARQUITECTURA ECONOMÉTRICA CIER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Cómo se Obtiene la Importancia Relativa (Modelo Multivariado)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📐 Modelo de Regresión Lineal Múltiple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Modelo Econométrico: </a:t>
            </a:r>
            <a:r>
              <a:rPr b="0">
                <a:solidFill>
                  <a:srgbClr val="475569"/>
                </a:solidFill>
              </a:rPr>
              <a:t>Se estima la relación multivariada entre la Satisfacción General ($Y_{	ext{ISG}}$) y las notas otorgadas a los 30 atributos ($X_1 \dots X_{30}$).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Ecuación de Regresión: </a:t>
            </a:r>
            <a:r>
              <a:rPr b="0">
                <a:solidFill>
                  <a:srgbClr val="475569"/>
                </a:solidFill>
              </a:rPr>
              <a:t>ISG = β₀ + β₁(X₁) + β₂(X₂) + ... + β₃₀(X₃₀) + ε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Coeficientes Beta (β_i): </a:t>
            </a:r>
            <a:r>
              <a:rPr b="0">
                <a:solidFill>
                  <a:srgbClr val="475569"/>
                </a:solidFill>
              </a:rPr>
              <a:t>Miden la sensibilidad real: cuánto varía la satisfacción global cuando la calificación de un atributo sube 1 punto (ceteris paribus).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Normalización a Base 100%: </a:t>
            </a:r>
            <a:r>
              <a:rPr b="0">
                <a:solidFill>
                  <a:srgbClr val="475569"/>
                </a:solidFill>
              </a:rPr>
              <a:t>IR_i = (|β_i| / ∑|β_j|) × 100%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Umbral de Corte CIER (3.33%): </a:t>
            </a:r>
            <a:r>
              <a:rPr b="0">
                <a:solidFill>
                  <a:srgbClr val="475569"/>
                </a:solidFill>
              </a:rPr>
              <a:t>Al evaluar 30 atributos, el promedio teórico es 100% / 30 = 3.33%. Todo atributo con IR ≥ 3.33% es de Alta Importancia.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7490"/>
                </a:solidFill>
                <a:latin typeface="Segoe UI"/>
              </a:defRPr>
            </a:pPr>
            <a:r>
              <a:t>🎯 Importancia Derivada vs. Declarada Directa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❌ El Sesgo de la Importancia Declarada: </a:t>
            </a:r>
            <a:r>
              <a:rPr b="0">
                <a:solidFill>
                  <a:srgbClr val="475569"/>
                </a:solidFill>
              </a:rPr>
              <a:t>Si se le pide al cliente que ordene o califique la importancia, responde que 'TODO es 10/10' (sesgo de techo). Impide priorizar inversiones de manera científica.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✅ El Descubrimiento de la Importancia Relativa: </a:t>
            </a:r>
            <a:r>
              <a:rPr b="0">
                <a:solidFill>
                  <a:srgbClr val="475569"/>
                </a:solidFill>
              </a:rPr>
              <a:t>El cliente sólo califica su satisfacción del 1 al 10. El modelo estadístico descubre qué atributos mueven verdaderamente la aguja de la lealtad y la recomendación.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Comportamiento Revelado: </a:t>
            </a:r>
            <a:r>
              <a:rPr b="0">
                <a:solidFill>
                  <a:srgbClr val="475569"/>
                </a:solidFill>
              </a:rPr>
              <a:t>Permite identificar 'falsos positivos' (servicios bien evaluados pero de bajo impacto) y 'focos críticos' (atributos de alto impacto pero calificación deficiente).</a:t>
            </a:r>
          </a:p>
          <a:p>
            <a:pPr>
              <a:spcAft>
                <a:spcPts val="10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Aplicación en el ISCAL: </a:t>
            </a:r>
            <a:r>
              <a:rPr b="0">
                <a:solidFill>
                  <a:srgbClr val="475569"/>
                </a:solidFill>
              </a:rPr>
              <a:t>La fórmula del ISCAL multiplica el desempeño de cada atributo (IDAT_i) por su peso relativo: ISCAL = ∑ (IDAT_i × IR_i).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MODELO ESTRATÉGICO DE PRIORIZACIÓN CIER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Matriz Conjunta de Definición de Acciones de Mejora (IPA)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59669"/>
                </a:solidFill>
                <a:latin typeface="Segoe UI"/>
              </a:defRPr>
            </a:pPr>
            <a:r>
              <a:t>CUADRANTE I · FORTALEZAS CLAVE</a:t>
            </a:r>
          </a:p>
          <a:p>
            <a:pPr>
              <a:spcAft>
                <a:spcPts val="600"/>
              </a:spcAft>
              <a:defRPr sz="900" b="1">
                <a:solidFill>
                  <a:srgbClr val="475569"/>
                </a:solidFill>
                <a:latin typeface="Segoe UI"/>
              </a:defRPr>
            </a:pPr>
            <a:r>
              <a:t>Alta Importancia (≥3.3%) | Alto Desempeño (≥64.8 pts)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SE1: Suministro sin interrupción (85.92% / IR: 8.26%)</a:t>
            </a:r>
            <a:br/>
            <a:r>
              <a:t>• SE2: Suministro sin variación de voltaje (77.40% / IR: 5.40%)</a:t>
            </a:r>
            <a:br/>
            <a:r>
              <a:t>• SE3: Rapidez de reanudación (72.12% / IR: 4.88%)</a:t>
            </a:r>
            <a:br/>
            <a:br/>
            <a:r>
              <a:t>🎯 Acción: Preservar estándares, blindar alimentadores y comunicar confiabilidad.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21208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Segoe UI"/>
              </a:defRPr>
            </a:pPr>
            <a:r>
              <a:t>CUADRANTE II · VENTAJAS SECUNDARIAS</a:t>
            </a:r>
          </a:p>
          <a:p>
            <a:pPr>
              <a:spcAft>
                <a:spcPts val="600"/>
              </a:spcAft>
              <a:defRPr sz="900" b="1">
                <a:solidFill>
                  <a:srgbClr val="475569"/>
                </a:solidFill>
                <a:latin typeface="Segoe UI"/>
              </a:defRPr>
            </a:pPr>
            <a:r>
              <a:t>Baja Importancia (&lt;3.3%) | Alto Desempeño (≥64.8 pts)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FE4: Locales y opciones de pago (88.50% / IR: 1.62%)</a:t>
            </a:r>
            <a:br/>
            <a:r>
              <a:t>• AT6: Cortesía y trato del personal (81.30% / IR: 1.84%)</a:t>
            </a:r>
            <a:br/>
            <a:r>
              <a:t>• AT4: Conocimiento técnico del personal (79.10% / IR: 1.70%)</a:t>
            </a:r>
            <a:br/>
            <a:br/>
            <a:r>
              <a:t>🎯 Acción: Eficiencia operativa, digitalización sin sobreinversión de capital.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CUADRANTE III · BAJA PRIORIDAD</a:t>
            </a:r>
          </a:p>
          <a:p>
            <a:pPr>
              <a:spcAft>
                <a:spcPts val="600"/>
              </a:spcAft>
              <a:defRPr sz="900" b="1">
                <a:solidFill>
                  <a:srgbClr val="475569"/>
                </a:solidFill>
                <a:latin typeface="Segoe UI"/>
              </a:defRPr>
            </a:pPr>
            <a:r>
              <a:t>Baja Importancia (&lt;3.3%) | Bajo Desempeño (&lt;64.8 pts)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IM1 a IM8: Atributos de Imagen Institucional (51.2% a 63.8%)</a:t>
            </a:r>
            <a:br/>
            <a:r>
              <a:t>• IC2: Orientación uso eficiente de energía (57.81% / IR: 3.03%)</a:t>
            </a:r>
            <a:br/>
            <a:r>
              <a:t>• IC4: Información de derechos y deberes (48.37% / IR: 2.98%)</a:t>
            </a:r>
            <a:br/>
            <a:br/>
            <a:r>
              <a:t>🎯 Acción: Monitoreo periódico y mejoras de comunicación de bajo costo.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931920"/>
            <a:ext cx="5212080" cy="23774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DC2626"/>
                </a:solidFill>
                <a:latin typeface="Segoe UI"/>
              </a:defRPr>
            </a:pPr>
            <a:r>
              <a:t>CUADRANTE IV · 🚩 CUADRANTE FOCO URGENTE</a:t>
            </a:r>
          </a:p>
          <a:p>
            <a:pPr>
              <a:spcAft>
                <a:spcPts val="600"/>
              </a:spcAft>
              <a:defRPr sz="900" b="1">
                <a:solidFill>
                  <a:srgbClr val="475569"/>
                </a:solidFill>
                <a:latin typeface="Segoe UI"/>
              </a:defRPr>
            </a:pPr>
            <a:r>
              <a:t>Alta Importancia (≥3.3%) | Bajo Desempeño (&lt;64.8 pts)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1º IC1: Notificación de cortes (58.86% / IR: 5.85%)</a:t>
            </a:r>
            <a:br/>
            <a:r>
              <a:t>• 2º AT1: Facilidad de contacto (58.32% / IR: 5.48%)</a:t>
            </a:r>
            <a:br/>
            <a:r>
              <a:t>• 3º FE1: Plazo recepción factura (63.12% / IR: 5.10%)</a:t>
            </a:r>
            <a:br/>
            <a:r>
              <a:t>• 4º AT2: Tiempo espera atención (55.59% / IR: 4.30%)</a:t>
            </a:r>
            <a:br/>
            <a:r>
              <a:t>• 5º IC3: Riesgos y peligros (50.08% / IR: 3.67%)</a:t>
            </a:r>
            <a:br/>
            <a:r>
              <a:t>• 6º FE3: Claridad de factura (62.19% / IR: 3.60%)</a:t>
            </a:r>
            <a:br/>
            <a:br/>
            <a:r>
              <a:t>🚨 Acción Inmediata: Asignación prioritaria de recursos y plan de choque.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DIAGNÓSTICO DE EXPERIENCIA DEL CLIENTE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La Dinámica de la Fricción Operativa: Estabilidad vs. Desplome Masivo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09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59669"/>
                </a:solidFill>
                <a:latin typeface="Segoe UI"/>
              </a:defRPr>
            </a:pPr>
            <a:r>
              <a:t>🟢 CLIENTE SIN FRICCIONES OPERATIVAS</a:t>
            </a:r>
          </a:p>
          <a:p>
            <a:pPr>
              <a:spcAft>
                <a:spcPts val="1200"/>
              </a:spcAft>
              <a:defRPr sz="1100" b="1">
                <a:solidFill>
                  <a:srgbClr val="475569"/>
                </a:solidFill>
                <a:latin typeface="Segoe UI"/>
              </a:defRPr>
            </a:pPr>
            <a:r>
              <a:t>Evaluación en Zona de Excelencia y Promoción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Satisfacción General (ISG): </a:t>
            </a:r>
            <a:r>
              <a:rPr b="0">
                <a:solidFill>
                  <a:srgbClr val="475569"/>
                </a:solidFill>
              </a:rPr>
              <a:t>86.0 a 90.0 pts (Promedio: 88.2 pts)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Índice de Aprobación (IAC): </a:t>
            </a:r>
            <a:r>
              <a:rPr b="0">
                <a:solidFill>
                  <a:srgbClr val="475569"/>
                </a:solidFill>
              </a:rPr>
              <a:t>92.0% a 95.5% de respaldo institucional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Índice de Excelencia (IECP): </a:t>
            </a:r>
            <a:r>
              <a:rPr b="0">
                <a:solidFill>
                  <a:srgbClr val="475569"/>
                </a:solidFill>
              </a:rPr>
              <a:t>42.0% a 50.0% otorgan notas 9 y 10 puras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Índice de Insatisfacción (IICP): </a:t>
            </a:r>
            <a:r>
              <a:rPr b="0">
                <a:solidFill>
                  <a:srgbClr val="475569"/>
                </a:solidFill>
              </a:rPr>
              <a:t>Menor al 3.5% de detracción residual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Comportamiento del Usuario: </a:t>
            </a:r>
            <a:r>
              <a:rPr b="0">
                <a:solidFill>
                  <a:srgbClr val="475569"/>
                </a:solidFill>
              </a:rPr>
              <a:t>Valora positivamente la infraestructura, tolera micro-interrupciones y actúa como promotor natural en su comunidad.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C2626"/>
                </a:solidFill>
                <a:latin typeface="Segoe UI"/>
              </a:defRPr>
            </a:pPr>
            <a:r>
              <a:t>🔴 CLIENTE CON FALLA EN TOP 6 CRÍTICO</a:t>
            </a:r>
          </a:p>
          <a:p>
            <a:pPr>
              <a:spcAft>
                <a:spcPts val="1200"/>
              </a:spcAft>
              <a:defRPr sz="1100" b="1">
                <a:solidFill>
                  <a:srgbClr val="475569"/>
                </a:solidFill>
                <a:latin typeface="Segoe UI"/>
              </a:defRPr>
            </a:pPr>
            <a:r>
              <a:t>Puntos de Quiebre y Desplome de Satisfacción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Satisfacción General (ISG): </a:t>
            </a:r>
            <a:r>
              <a:rPr b="0">
                <a:solidFill>
                  <a:srgbClr val="475569"/>
                </a:solidFill>
              </a:rPr>
              <a:t>38.0 a 46.0 pts (📉 Caída de -45 a -50 pts)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Índice de Aprobación (IAC): </a:t>
            </a:r>
            <a:r>
              <a:rPr b="0">
                <a:solidFill>
                  <a:srgbClr val="475569"/>
                </a:solidFill>
              </a:rPr>
              <a:t>Se derrumba a menos del 35.0% (-60 p.p.)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Índice de Insatisfacción (IICP): </a:t>
            </a:r>
            <a:r>
              <a:rPr b="0">
                <a:solidFill>
                  <a:srgbClr val="475569"/>
                </a:solidFill>
              </a:rPr>
              <a:t>Se dispara al 40.0% - 58.0% (+50 p.p.)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Índice de Excelencia (IECP): </a:t>
            </a:r>
            <a:r>
              <a:rPr b="0">
                <a:solidFill>
                  <a:srgbClr val="475569"/>
                </a:solidFill>
              </a:rPr>
              <a:t>Cae a menos del 6.0% (pérdida total de promotores)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Regla de Asimetría Operativa: </a:t>
            </a:r>
            <a:r>
              <a:rPr b="0">
                <a:solidFill>
                  <a:srgbClr val="475569"/>
                </a:solidFill>
              </a:rPr>
              <a:t>Las inversiones en cables y transformadores crean la base, pero basta un corte no avisado (IC1) o espera telefónica (AT2) para destruir la percepción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RANKING OFICIAL DE ACCIONES DE MEJORA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Matriz Resumen de Correlaciones e Impacto Cruzado del TOP 6 Crítico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822960"/>
                <a:gridCol w="2926080"/>
                <a:gridCol w="1097280"/>
                <a:gridCol w="1097280"/>
                <a:gridCol w="1188720"/>
                <a:gridCol w="1371600"/>
                <a:gridCol w="1490472"/>
              </a:tblGrid>
              <a:tr h="705394"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Sigla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Atributo Crítico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Área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Imp. Rel.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Corr. (r)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Caída ISG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Pérdida IAC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5394"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1º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IC1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Notificación de interrupción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Información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5.85%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+0.642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-50.30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-65.70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705394"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2º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AT1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Facilidad de contacto (0800/Web)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Atención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5.48%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+0.618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-48.10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-63.00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705394"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3º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FE1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Plazo de factura y vencimiento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Factura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5.10%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+0.584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-41.30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-52.80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705394"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4º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AT2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Tiempo de espera hasta ser atendido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Atención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4.30%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+0.576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-48.10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-62.80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705394"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5º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IC3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Información de riesgos y peligros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Información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3.67%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+0.512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-36.70 pts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-46.30 p.p.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705396"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6º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FE3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Claridad y comprensión de factura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Factura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3.60%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+0.548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-39.60 pts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-49.30 p.p.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CUADRANTE FOCO URGENTE · PRIORIDAD 1º LUGAR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Atributo IC1 · Notificación y Aviso de Interrupción de Suministro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Métricas CIER: Importancia 5.85% (Ranking 1º Lugar) | Desempeño: 58.86 pts | Correlación: r = +0.642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Microdatos N=1.250:  Notas 1-4 (Neg): 21.5%  |  Notas 5-8 (Neu): 55.8%  |  Notas 9-10 (Pos): 22.8%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148840"/>
          <a:ext cx="59436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371600"/>
              </a:tblGrid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Índice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🟢 Con Exp. Pos.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🔴 Con Exp. Neg.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⚡ Impacto (Δ)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ISG (Satisfacción General)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88.40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38.10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-50.30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ISCAL (Calidad Percibida)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82.60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45.30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-37.30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IAC (Aprobación Cliente)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94.20%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28.50%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-65.70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IECP (Excelencia / Promotores)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46.80%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-42.60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IICP (Insatisfacción / Detractor)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3.10%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58.40%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+55.30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8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IDAR (IDAR-IC)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86.50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24.80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-61.70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0" y="1280160"/>
            <a:ext cx="432511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3959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🔍 Diagnóstico de Causa Raíz</a:t>
            </a:r>
          </a:p>
          <a:p>
            <a:pPr>
              <a:spcAft>
                <a:spcPts val="14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• Falta de preaviso en mantenimientos y obras programadas.</a:t>
            </a:r>
            <a:br/>
            <a:r>
              <a:t>• Ausencia de Horario Estimado de Restitución (ETR) en contingencias imprevistas por tormentas.</a:t>
            </a:r>
            <a:br/>
            <a:r>
              <a:t>• El usuario tolera el corte técnico pero no la incertidumbre horaria para su teletrabajo y hogar.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🚀 Iniciativa Táctica de Impacto Rápido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Despliegue de notificaciones push y WhatsApp georreferenciadas por alimentador.</a:t>
            </a:r>
            <a:br/>
            <a:r>
              <a:t>• Compromiso de informar causa y ETR en menos de 15 minutos de iniciado el evento.</a:t>
            </a:r>
            <a:br/>
            <a:r>
              <a:t>• Meta: elevar IC1 de 58.86% a &gt;70%.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CUADRANTE FOCO URGENTE · PRIORIDAD 2º LUGAR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Atributo AT1 · Facilidad para Contactarse con la Empresa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Métricas CIER: Importancia 5.48% (Ranking 2º Lugar) | Desempeño: 58.32 pts | Correlación: r = +0.618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Microdatos N=1.250:  Notas 1-4 (Neg): 19.0%  |  Notas 5-8 (Neu): 57.6%  |  Notas 9-10 (Pos): 23.4%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148840"/>
          <a:ext cx="59436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371600"/>
              </a:tblGrid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Índice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🟢 Con Exp. Pos.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🔴 Con Exp. Neg.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⚡ Impacto (Δ)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ISG (Satisfacción General)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89.60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41.50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-48.10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ISCAL (Calidad Percibida)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84.10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48.20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-35.90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IAC (Aprobación Cliente)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95.10%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32.10%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-63.00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IECP (Excelencia / Promotores)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49.50%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6.10%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-43.40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IICP (Insatisfacción / Detractor)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2.80%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51.30%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+48.50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8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IDAR (IDAR-AT)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88.90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31.40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-57.50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0" y="1280160"/>
            <a:ext cx="432511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3959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🔍 Diagnóstico de Causa Raíz</a:t>
            </a:r>
          </a:p>
          <a:p>
            <a:pPr>
              <a:spcAft>
                <a:spcPts val="14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• Saturación de líneas telefónicas (0800) en picos de tormenta con tono de ocupado.</a:t>
            </a:r>
            <a:br/>
            <a:r>
              <a:t>• El 41.2% de los clientes que reclamó debió llamar 2 o más veces para ser atendido.</a:t>
            </a:r>
            <a:br/>
            <a:r>
              <a:t>• Menús de conmutador (IVR) complejos que retienen al usuario.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🚀 Iniciativa Táctica de Impacto Rápido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Bot de WhatsApp 24/7 con autogestión de reclamos técnicos y comerciales.</a:t>
            </a:r>
            <a:br/>
            <a:r>
              <a:t>• Sistema de devolución automática de llamada (Call-back) para evitar esperas en línea.</a:t>
            </a:r>
            <a:br/>
            <a:r>
              <a:t>• Meta: elevar AT1 de 58.32% a &gt;72%.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CUADRANTE FOCO URGENTE · PRIORIDAD 3º LUGAR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Atributo FE1 · Plazo entre Recepción de Factura y Vencimiento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Métricas CIER: Importancia 5.10% (Ranking 3º Lugar) | Desempeño: 63.12 pts | Correlación: r = +0.584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Microdatos N=1.250:  Notas 1-4 (Neg): 18.8%  |  Notas 5-8 (Neu): 52.8%  |  Notas 9-10 (Pos): 28.4%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148840"/>
          <a:ext cx="59436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371600"/>
              </a:tblGrid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Índice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🟢 Con Exp. Pos.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🔴 Con Exp. Neg.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⚡ Impacto (Δ)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ISG (Satisfacción General)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86.50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45.20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-41.30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ISCAL (Calidad Percibida)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81.40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51.80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-29.60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IAC (Aprobación Cliente)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91.80%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39.00%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-52.80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IECP (Excelencia / Promotores)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42.10%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8.50%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-33.60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IICP (Insatisfacción / Detractor)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44.20%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+39.70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8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IDAR (IDAR-FE)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89.20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38.70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-50.50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0" y="1280160"/>
            <a:ext cx="432511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3959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🔍 Diagnóstico de Causa Raíz</a:t>
            </a:r>
          </a:p>
          <a:p>
            <a:pPr>
              <a:spcAft>
                <a:spcPts val="14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• Facturas físicas que llegan con menos de 5 días hábiles antes de su vencimiento.</a:t>
            </a:r>
            <a:br/>
            <a:r>
              <a:t>• Desfasaje financiero: vencimientos antes del día 10 del mes, previo al cobro de sueldos.</a:t>
            </a:r>
            <a:br/>
            <a:r>
              <a:t>• El usuario percibe la aplicación de recargos como una conducta punitiva injusta.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🚀 Iniciativa Táctica de Impacto Rápido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Campaña masiva de adhesión a Factura Digital vía WhatsApp / Email con 10+ días de margen.</a:t>
            </a:r>
            <a:br/>
            <a:r>
              <a:t>• Esquema de vencimiento programable según fecha de acreditación salarial.</a:t>
            </a:r>
            <a:br/>
            <a:r>
              <a:t>• Meta: elevar FE1 de 63.12% a &gt;75%.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CUADRANTE FOCO URGENTE · PRIORIDAD 4º LUGAR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Atributo AT2 · Tiempo de Espera hasta ser Atendido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Métricas CIER: Importancia 4.30% (Ranking 4º Lugar) | Desempeño: 55.59 pts | Correlación: r = +0.576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Microdatos N=1.250:  Notas 1-4 (Neg): 22.7%  |  Notas 5-8 (Neu): 58.5%  |  Notas 9-10 (Pos): 18.8%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148840"/>
          <a:ext cx="59436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371600"/>
              </a:tblGrid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Índice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🟢 Con Exp. Pos.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🔴 Con Exp. Neg.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⚡ Impacto (Δ)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ISG (Satisfacción General)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87.90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39.80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-48.10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ISCAL (Calidad Percibida)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83.20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46.70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-36.50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IAC (Aprobación Cliente)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93.40%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30.60%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-62.80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IECP (Excelencia / Promotores)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45.30%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-40.20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IICP (Insatisfacción / Detractor)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3.60%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54.90%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+51.30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8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IDAR (IDAR-AT)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87.40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29.10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-58.30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0" y="1280160"/>
            <a:ext cx="432511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3959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🔍 Diagnóstico de Causa Raíz</a:t>
            </a:r>
          </a:p>
          <a:p>
            <a:pPr>
              <a:spcAft>
                <a:spcPts val="14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• Demoras superiores a 10-15 minutos en guardia telefónica en días de emergencia.</a:t>
            </a:r>
            <a:br/>
            <a:r>
              <a:t>• Congestión y filas en centros de atención comercial presencial.</a:t>
            </a:r>
            <a:br/>
            <a:r>
              <a:t>• Es la dimensión más castigada por el segmento activo y productivo (30 a 59 años).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🚀 Iniciativa Táctica de Impacto Rápido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Turnero digital web obligatorio en centros comerciales para eliminar filas presenciales.</a:t>
            </a:r>
            <a:br/>
            <a:r>
              <a:t>• Protocolo de 'Resolución en Primer Contacto' (FCR) para evitar reiteración de trámites.</a:t>
            </a:r>
            <a:br/>
            <a:r>
              <a:t>• Meta: reducir tiempo de espera a &lt;3 minutos.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CUADRANTE FOCO URGENTE · PRIORIDAD 5º LUGAR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Atributo IC3 · Información sobre Riesgos y Peligros Eléctricos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Métricas CIER: Importancia 3.67% (Ranking 5º Lugar) | Desempeño: 50.08 pts | Correlación: r = +0.512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Microdatos N=1.250:  Notas 1-4 (Neg): 27.2%  |  Notas 5-8 (Neu): 52.4%  |  Notas 9-10 (Pos): 20.4%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148840"/>
          <a:ext cx="59436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371600"/>
              </a:tblGrid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Índice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🟢 Con Exp. Pos.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🔴 Con Exp. Neg.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⚡ Impacto (Δ)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ISG (Satisfacción General)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84.30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47.60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-36.70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ISCAL (Calidad Percibida)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79.80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54.10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-25.70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IAC (Aprobación Cliente)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89.50%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43.20%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-46.30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IECP (Excelencia / Promotores)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38.40%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9.80%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-28.60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IICP (Insatisfacción / Detractor)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5.20%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38.70%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+33.50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8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IDAR (IDAR-IC)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82.10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34.60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-47.50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0" y="1280160"/>
            <a:ext cx="432511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3959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🔍 Diagnóstico de Causa Raíz</a:t>
            </a:r>
          </a:p>
          <a:p>
            <a:pPr>
              <a:spcAft>
                <a:spcPts val="14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• Un 27.2% de respuestas negativas por falta de campañas preventivas visibles.</a:t>
            </a:r>
            <a:br/>
            <a:r>
              <a:t>• Demanda social de consejos sobre cómo proteger electrodomésticos en tormentas y qué hacer ante cables caídos en vía pública.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🚀 Iniciativa Táctica de Impacto Rápido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Micro-cápsulas informativas en video y redes sociales sobre seguridad eléctrica hogareña.</a:t>
            </a:r>
            <a:br/>
            <a:r>
              <a:t>• Alertas climáticas tempranas por temporal enviadas a la App de usuarios en zonas de riesgo.</a:t>
            </a:r>
            <a:br/>
            <a:r>
              <a:t>• Meta: elevar IC3 de 50.08% a &gt;65%.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CUADRANTE FOCO URGENTE · PRIORIDAD 6º LUGAR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Atributo FE3 · Facilidad de Comprensión y Claridad de la Factura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Métricas CIER: Importancia 3.60% (Ranking 6º Lugar) | Desempeño: 62.19 pts | Correlación: r = +0.548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Microdatos N=1.250:  Notas 1-4 (Neg): 17.5%  |  Notas 5-8 (Neu): 56.0%  |  Notas 9-10 (Pos): 26.5%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148840"/>
          <a:ext cx="59436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371600"/>
              </a:tblGrid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Índice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🟢 Con Exp. Pos.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🔴 Con Exp. Neg.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⚡ Impacto (Δ)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ISG (Satisfacción General)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85.70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46.10 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-39.60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ISCAL (Calidad Percibida)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80.90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52.40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-28.50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IAC (Aprobación Cliente)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90.80%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41.50%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-49.30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IECP (Excelencia / Promotores)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40.60%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7.90%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-32.70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IICP (Insatisfacción / Detractor)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41.80%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+37.70 p.p.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81298">
                <a:tc>
                  <a:txBody>
                    <a:bodyPr lIns="73152" rIns="73152" tIns="54864" bIns="54864" wrap="square"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IDAR (IDAR-FE)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88.10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37.20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54864" bIns="54864" wrap="square"/>
                    <a:lstStyle/>
                    <a:p>
                      <a:pPr algn="ctr"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-50.90 pts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0" y="1280160"/>
            <a:ext cx="432511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3959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🔍 Diagnóstico de Causa Raíz</a:t>
            </a:r>
          </a:p>
          <a:p>
            <a:pPr>
              <a:spcAft>
                <a:spcPts val="14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• Dificultad para desglosar el consumo de energía en kWh respecto a impuestos provinciales y tasas municipales.</a:t>
            </a:r>
            <a:br/>
            <a:r>
              <a:t>• Sensación de opacidad en variaciones estacionales de lectura.</a:t>
            </a:r>
          </a:p>
          <a:p>
            <a:pPr>
              <a:spcAft>
                <a:spcPts val="6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🚀 Iniciativa Táctica de Impacto Rápido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Rediseño visual del comprobante de factura (física y digital) con gráfico de barras de consumo histórico.</a:t>
            </a:r>
            <a:br/>
            <a:r>
              <a:t>• Separador visual claro entre cargo por energía pura y conceptos impositivos de terceros.</a:t>
            </a:r>
            <a:br/>
            <a:r>
              <a:t>• Meta: elevar FE3 de 62.19% a &gt;75%.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PLAN ESTRATÉGICO DE TRANSFORMACIÓN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Hoja de Ruta Táctica: 4 Iniciativas para Desactivar el TOP 6 Crítico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01168"/>
            <a:ext cx="1600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EPEC · CIER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2025 - 2026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E7490"/>
                </a:solidFill>
                <a:latin typeface="Segoe UI"/>
              </a:defRPr>
            </a:pPr>
            <a:r>
              <a:t>1. Notificación Proactiva Omnicanal con ETR</a:t>
            </a:r>
          </a:p>
          <a:p>
            <a:pPr>
              <a:spcAft>
                <a:spcPts val="600"/>
              </a:spcAft>
              <a:defRPr sz="950" b="1">
                <a:solidFill>
                  <a:srgbClr val="475569"/>
                </a:solidFill>
                <a:latin typeface="Segoe UI"/>
              </a:defRPr>
            </a:pPr>
            <a:r>
              <a:t>Desactiva Atributos IC1 e IC3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Alertas automáticas geolocalizadas ante cortes programados e imprevistos vía WhatsApp/SMS.</a:t>
            </a:r>
            <a:br/>
            <a:r>
              <a:t>• Publicación en tiempo real del Horario Estimado de Restitución (ETR) en &lt;15 min.</a:t>
            </a:r>
            <a:br/>
            <a:r>
              <a:t>• Cobertura del 85% de los clientes periurbanos.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284C7"/>
                </a:solidFill>
                <a:latin typeface="Segoe UI"/>
              </a:defRPr>
            </a:pPr>
            <a:r>
              <a:t>2. Modernización de Canales y Fila Virtual</a:t>
            </a:r>
          </a:p>
          <a:p>
            <a:pPr>
              <a:spcAft>
                <a:spcPts val="600"/>
              </a:spcAft>
              <a:defRPr sz="950" b="1">
                <a:solidFill>
                  <a:srgbClr val="475569"/>
                </a:solidFill>
                <a:latin typeface="Segoe UI"/>
              </a:defRPr>
            </a:pPr>
            <a:r>
              <a:t>Desactiva Atributos AT1 y AT2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Bot interactivo 24/7 en WhatsApp para trámites frecuentes sin fricción.</a:t>
            </a:r>
            <a:br/>
            <a:r>
              <a:t>• Sistema de Call-back en 0800 y turnero digital web obligatorio en sucursales comerciales.</a:t>
            </a:r>
            <a:br/>
            <a:r>
              <a:t>• Meta: reducir tiempo de espera a &lt;3 minutos.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3. Facturación Digital Flexible y Anticipada</a:t>
            </a:r>
          </a:p>
          <a:p>
            <a:pPr>
              <a:spcAft>
                <a:spcPts val="600"/>
              </a:spcAft>
              <a:defRPr sz="950" b="1">
                <a:solidFill>
                  <a:srgbClr val="475569"/>
                </a:solidFill>
                <a:latin typeface="Segoe UI"/>
              </a:defRPr>
            </a:pPr>
            <a:r>
              <a:t>Desactiva Atributos FE1 y FE3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Factura digital garantizada con 10 o más días de margen antes del vencimiento.</a:t>
            </a:r>
            <a:br/>
            <a:r>
              <a:t>• Vencimiento programable pos-cobro salarial y desglose gráfico comprensible de kWh vs tasas.</a:t>
            </a:r>
            <a:br/>
            <a:r>
              <a:t>• Reducción de reclamos de facturación en 35%.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4. Campaña Institucional del Valor de la Tarifa</a:t>
            </a:r>
          </a:p>
          <a:p>
            <a:pPr>
              <a:spcAft>
                <a:spcPts val="600"/>
              </a:spcAft>
              <a:defRPr sz="950" b="1">
                <a:solidFill>
                  <a:srgbClr val="475569"/>
                </a:solidFill>
                <a:latin typeface="Segoe UI"/>
              </a:defRPr>
            </a:pPr>
            <a:r>
              <a:t>Potencia Imagen IM y Área SE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Difusión del plan provincial de obras e inversiones en estaciones transformadoras y líneas.</a:t>
            </a:r>
            <a:br/>
            <a:r>
              <a:t>• Jerarquización de la continuidad del servicio (85.92%) como palanca de valor percibido.</a:t>
            </a:r>
            <a:br/>
            <a:r>
              <a:t>• Meta ISCAL 2027: superar el 70.0% regional.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EPEC · CIENCIA DE DATOS &amp; BI</a:t>
            </a:r>
          </a:p>
          <a:p>
            <a:pPr algn="ctr"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¡Muchas Gracias!</a:t>
            </a:r>
          </a:p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Empresa Provincial de Energía de Córdoba (EPEC)</a:t>
            </a:r>
            <a:br/>
            <a:r>
              <a:t>Encuesta de Satisfacción del Consumidor Residencial CIER (2025 - 2026)</a:t>
            </a:r>
            <a:br/>
            <a:r>
              <a:t>Fuente Única de Verdad (SSOT) · Microdatos Auditados (N = 1.250)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